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1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73152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3BF"/>
                </a:solidFill>
                <a:latin typeface="Calibri"/>
              </a:rPr>
              <a:t>END-OF-STUDIES INTERNSHIP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 Light"/>
              </a:rPr>
              <a:t>CST LePoint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F0F7"/>
                </a:solidFill>
                <a:latin typeface="Calibri Light"/>
              </a:rPr>
              <a:t>Fleet Tracking &amp; Workforce Attendance
Management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5486400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3BF"/>
                </a:solidFill>
                <a:latin typeface="Calibri"/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2900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6FC"/>
                </a:solidFill>
                <a:latin typeface="Calibri"/>
              </a:rPr>
              <a:t>Rayen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7647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3BF"/>
                </a:solidFill>
                <a:latin typeface="Calibri"/>
              </a:rPr>
              <a:t>Host Company: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764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6FC"/>
                </a:solidFill>
                <a:latin typeface="Calibri"/>
              </a:rPr>
              <a:t>Canadian System Technology (CST)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2394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3BF"/>
                </a:solidFill>
                <a:latin typeface="Calibri"/>
              </a:rPr>
              <a:t>Academic Year: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12394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6FC"/>
                </a:solidFill>
                <a:latin typeface="Calibri"/>
              </a:rPr>
              <a:t>2025 – 2026</a:t>
            </a:r>
          </a:p>
        </p:txBody>
      </p:sp>
      <p:pic>
        <p:nvPicPr>
          <p:cNvPr id="17" name="Picture 16" descr="logo-dot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46320"/>
            <a:ext cx="594360" cy="594360"/>
          </a:xfrm>
          <a:prstGeom prst="rect">
            <a:avLst/>
          </a:prstGeom>
        </p:spPr>
      </p:pic>
      <p:pic>
        <p:nvPicPr>
          <p:cNvPr id="18" name="Picture 17" descr="logo-ang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4846320"/>
            <a:ext cx="594360" cy="594360"/>
          </a:xfrm>
          <a:prstGeom prst="rect">
            <a:avLst/>
          </a:prstGeom>
        </p:spPr>
      </p:pic>
      <p:pic>
        <p:nvPicPr>
          <p:cNvPr id="19" name="Picture 18" descr="logo-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846320"/>
            <a:ext cx="594360" cy="594360"/>
          </a:xfrm>
          <a:prstGeom prst="rect">
            <a:avLst/>
          </a:prstGeom>
        </p:spPr>
      </p:pic>
      <p:pic>
        <p:nvPicPr>
          <p:cNvPr id="20" name="Picture 19" descr="logo-sql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4846320"/>
            <a:ext cx="1801091" cy="594360"/>
          </a:xfrm>
          <a:prstGeom prst="rect">
            <a:avLst/>
          </a:prstGeom>
        </p:spPr>
      </p:pic>
      <p:pic>
        <p:nvPicPr>
          <p:cNvPr id="21" name="Picture 20" descr="logo-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846320"/>
            <a:ext cx="105664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Overview of today's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" cy="16459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3BF"/>
                </a:solidFill>
                <a:latin typeface="Calibri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29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Host company · Problem statement ·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64008" cy="16459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813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3BF"/>
                </a:solidFill>
                <a:latin typeface="Calibri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029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Study of Existing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Market analysis · Limitations · Financial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64008" cy="16459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813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3BF"/>
                </a:solidFill>
                <a:latin typeface="Calibri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029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Requirements Specification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Functional · Non-functional · Use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73552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73552"/>
            <a:ext cx="64008" cy="16459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3BF"/>
                </a:solidFill>
                <a:latin typeface="Calibri Ligh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Proposed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3525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Architecture · DDD · Clean Architecture · CQRS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73552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273552"/>
            <a:ext cx="64008" cy="16459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3BF"/>
                </a:solidFill>
                <a:latin typeface="Calibri Light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Implementation &amp;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43525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Tech stack · Sprints · Screens · Testing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273552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273552"/>
            <a:ext cx="64008" cy="16459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3BF"/>
                </a:solidFill>
                <a:latin typeface="Calibri Light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3525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Contributions · Lessons learned ·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0" b="1" i="0">
                <a:solidFill>
                  <a:srgbClr val="1A2D55"/>
                </a:solidFill>
                <a:latin typeface="Calibri Ligh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3BF"/>
                </a:solidFill>
                <a:latin typeface="Calibri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4572000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F0F7"/>
                </a:solidFill>
                <a:latin typeface="Calibri"/>
              </a:rPr>
              <a:t>Host company · Problem statement · Scope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Host company &amp; operational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1206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64008" cy="512064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C40"/>
                </a:solidFill>
                <a:latin typeface="Calibri"/>
              </a:rPr>
              <a:t>Canadian System Technology (CST)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Founded 1989 · Montréal · Tunisia subsidiary since 1997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777240" cy="292608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Le Point ERP Suite (GPAO, GRH, FICO…)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15768"/>
            <a:ext cx="777240" cy="292608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1576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GIC-Distribution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157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Cybersecurity &amp; infrastructure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099816"/>
            <a:ext cx="777240" cy="292608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9981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Bs4m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09981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Mobile field services &amp; fleet telemetry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483864"/>
            <a:ext cx="777240" cy="292608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838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CST Canada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4838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Custom software &amp; management consulting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280160"/>
            <a:ext cx="58521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280160"/>
            <a:ext cx="64008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C40"/>
                </a:solidFill>
                <a:latin typeface="Calibri"/>
              </a:rPr>
              <a:t>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87451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0"/>
                </a:solidFill>
                <a:latin typeface="Calibri"/>
              </a:rPr>
              <a:t>🔴  No real-time GPS tracking of buses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25856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0"/>
                </a:solidFill>
                <a:latin typeface="Calibri"/>
              </a:rPr>
              <a:t>🔴  Manual paper-based attendance rosters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64261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0"/>
                </a:solidFill>
                <a:latin typeface="Calibri"/>
              </a:rPr>
              <a:t>🔴  No route compliance or geofence auditing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02666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0"/>
                </a:solidFill>
                <a:latin typeface="Calibri"/>
              </a:rPr>
              <a:t>🔴  Desktop-only legacy fat-client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41071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0"/>
                </a:solidFill>
                <a:latin typeface="Calibri"/>
              </a:rPr>
              <a:t>🔴  No predictive ETA or absenteeism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79475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0"/>
                </a:solidFill>
                <a:latin typeface="Calibri"/>
              </a:rPr>
              <a:t>🔴  Manual invoice auditing (error-prone)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029200"/>
            <a:ext cx="539496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0749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C40"/>
                </a:solidFill>
                <a:latin typeface="Calibri"/>
              </a:rPr>
              <a:t>💡  Target: A unified web-based platform with IoT telemetry,
    RFID attendance, ML forecasting, and BI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0" b="1" i="0">
                <a:solidFill>
                  <a:srgbClr val="1A2D55"/>
                </a:solidFill>
                <a:latin typeface="Calibri Ligh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3BF"/>
                </a:solidFill>
                <a:latin typeface="Calibri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Study of Existing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4572000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F0F7"/>
                </a:solidFill>
                <a:latin typeface="Calibri"/>
              </a:rPr>
              <a:t>Market critique · Operational failures · Financial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Study of Existing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Market analysis and operational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7160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Wialon / GPSGate
(Fleet GPS Platforms)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3BF"/>
                </a:solidFill>
                <a:latin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33172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✔ Mature cartographic engine
✔ Geofenced alerts &amp; traces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24612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502152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✘ No HR / employee data link
✘ Cannot verify who's onboard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3657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37160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ZKTime / Biometric Gates
(Attendance Terminals)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0756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3BF"/>
                </a:solidFill>
                <a:latin typeface="Calibri"/>
              </a:rPr>
              <a:t>STRENGTHS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33172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✔ High accuracy, anti-buddy-punch
✔ Payroll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24612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502152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✘ Gate-only — blind to transit
✘ Absent = late with no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258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3657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37160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Manual Logbooks &amp; WhatsApp
(SME Standard)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0756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3BF"/>
                </a:solidFill>
                <a:latin typeface="Calibri"/>
              </a:rPr>
              <a:t>STRENGTHS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33172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✔ Zero cost, instant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24612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502152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✘ No scale — safety risk
✘ Falsifiable, invoice errors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20640"/>
            <a:ext cx="11430000" cy="141732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120640"/>
            <a:ext cx="54864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663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0"/>
                </a:solidFill>
                <a:latin typeface="Calibri"/>
              </a:rPr>
              <a:t>📉  Financial Impact — Concrete Calculation:
A bus breakdown delays 40 operators for 1.5 h  →  Loss = 15,000 TND/h × 1.5 + 2,500 TND overtime  =  25,000 TND per incident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0" b="1" i="0">
                <a:solidFill>
                  <a:srgbClr val="1A2D55"/>
                </a:solidFill>
                <a:latin typeface="Calibri Light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3BF"/>
                </a:solidFill>
                <a:latin typeface="Calibri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Requirements Specification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4572000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F0F7"/>
                </a:solidFill>
                <a:latin typeface="Calibri"/>
              </a:rPr>
              <a:t>21 functional requirements · 6 use cases · NFRs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Requirements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Functional requirements, use cases &amp; non-functional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64008" cy="5257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Key Functional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FR-01–04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874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Authentication &amp; 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1488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Multi-tenant JWT, BCrypt, granular permissions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6887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688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FR-05–07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4688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Fleet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74319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Bus, driver, IoT modem catalogs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06323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0632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FR-08–09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0632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Pickup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3755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GPS circuits, ordered stop sequences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65759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575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FR-10–12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65759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Workforce Scheduling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93191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Employee RFID, shifts, work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25195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5195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FR-13–15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25195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IoT Telemetry Ingestion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52627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Real-time GPS, replay protection, geofencing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84631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FR-16–17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8463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Live Cartographic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1206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Leaflet map, WebSocket telemetry timeline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44067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4406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FR-18–19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4406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ML ETA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71499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FastAPI predictions, parallel async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035039"/>
            <a:ext cx="1005840" cy="274320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0350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3E"/>
                </a:solidFill>
                <a:latin typeface="Calibri"/>
              </a:rPr>
              <a:t>FR-20–21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60350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C40"/>
                </a:solidFill>
                <a:latin typeface="Calibri"/>
              </a:rPr>
              <a:t>BI Reporting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630935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Calibri"/>
              </a:rPr>
              <a:t>Custom layouts, export, multi-level grouping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128016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1280160"/>
            <a:ext cx="64008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371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1810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⚡ Telemetry ingestion &lt; 200 ms response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2148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🔒 JWT + BCrypt + action-level RBAC 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2487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🏗 Clean Architecture — inward dependencies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8254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🐳 Containerized: Docker Compose multi-service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31638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♻ Fault-tolerant: ML fallback to heuristics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3749039"/>
            <a:ext cx="55778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3749039"/>
            <a:ext cx="64008" cy="2743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Actors &amp; Use Cases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4315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👤 Administrator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Tenant config, RBAC, device registry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47000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👤 Operator / Dispatcher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70001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Live map, circuit planning, BI reports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50840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📡 IoT Modem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50840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GPS &amp; RFID telemetry streaming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468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🤖 ML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5468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C40"/>
                </a:solidFill>
                <a:latin typeface="Calibri"/>
              </a:rPr>
              <a:t>FastAPI ETA predictions</a:t>
            </a:r>
          </a:p>
        </p:txBody>
      </p:sp>
      <p:pic>
        <p:nvPicPr>
          <p:cNvPr id="61" name="Picture 60" descr="global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669280"/>
            <a:ext cx="84522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0" b="1" i="0">
                <a:solidFill>
                  <a:srgbClr val="1A2D55"/>
                </a:solidFill>
                <a:latin typeface="Calibri Light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3BF"/>
                </a:solidFill>
                <a:latin typeface="Calibri"/>
              </a:rPr>
              <a:t>Chapter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4572000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F0F7"/>
                </a:solidFill>
                <a:latin typeface="Calibri"/>
              </a:rPr>
              <a:t>Clean Architecture · DDD · CQRS · Containerized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Proposed Solution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Clean Architecture · DDD · CQRS · Multi-tier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029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91440" cy="109728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① Field &amp; IoT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GPS modems + RFID scanners on vehicles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5029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9144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② User Portal (SPA)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Angular 19 · Leaflet map · DevExtreme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029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91440" cy="1097280"/>
          </a:xfrm>
          <a:prstGeom prst="rect">
            <a:avLst/>
          </a:prstGeom>
          <a:solidFill>
            <a:srgbClr val="1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③ Business Core (.NET)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CQRS · MediatR · Clean Arch · Carter APIs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5029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029200"/>
            <a:ext cx="91440" cy="1097280"/>
          </a:xfrm>
          <a:prstGeom prst="rect">
            <a:avLst/>
          </a:prstGeom>
          <a:solidFill>
            <a:srgbClr val="22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12064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④ Data &amp; AI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SQL Server 2019 + FastAPI ML microservice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325880"/>
            <a:ext cx="603504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325880"/>
            <a:ext cx="64008" cy="5257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144475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Architectural Principles Applied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9202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◆  Clean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194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Dependencies point inward only. Domain &amp; Application layers are pure — zero framework dependencies.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788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◆  Domain-Driven Design (DDD)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0632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Private setters, factory constructors, strongly-typed ULIDs as aggregate IDs for lexicographic clustering.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57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◆  CQRS with MediatR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9319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Write commands separated from read queries. Pipeline behaviors handle Unit-of-Work &amp; FluentValidation.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526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◆  Multi-Tenant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800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Global EF Core query filters enforce SocieteId isolation. JWT carries tenant + permission matrix claims.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394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◆  Containerized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669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Docker Compose: Angular/Nginx · .NET API · SQL Server · Python FastAPI — isolated bridge network.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0" b="1" i="0">
                <a:solidFill>
                  <a:srgbClr val="1A2D55"/>
                </a:solidFill>
                <a:latin typeface="Calibri Light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3BF"/>
                </a:solidFill>
                <a:latin typeface="Calibri"/>
              </a:rPr>
              <a:t>Chapter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Implementation &amp; Realization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4572000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F0F7"/>
                </a:solidFill>
                <a:latin typeface="Calibri"/>
              </a:rPr>
              <a:t>Tech stack · Agile sprints · UI screens · ML microservice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Implementation — Tech Stack &amp;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Agile Scrum development across 5 sprints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dot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2C40"/>
                </a:solidFill>
                <a:latin typeface="Calibri"/>
              </a:rPr>
              <a:t>.NET 8 C#</a:t>
            </a:r>
          </a:p>
        </p:txBody>
      </p:sp>
      <p:pic>
        <p:nvPicPr>
          <p:cNvPr id="9" name="Picture 8" descr="logo-ang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32588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17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2C40"/>
                </a:solidFill>
                <a:latin typeface="Calibri"/>
              </a:rPr>
              <a:t>Angular 19</a:t>
            </a:r>
          </a:p>
        </p:txBody>
      </p:sp>
      <p:pic>
        <p:nvPicPr>
          <p:cNvPr id="11" name="Picture 10" descr="logo-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2588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2C40"/>
                </a:solidFill>
                <a:latin typeface="Calibri"/>
              </a:rPr>
              <a:t>Python 3.11</a:t>
            </a:r>
          </a:p>
        </p:txBody>
      </p:sp>
      <p:pic>
        <p:nvPicPr>
          <p:cNvPr id="13" name="Picture 12" descr="logo-sql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25880"/>
            <a:ext cx="2216727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2C40"/>
                </a:solidFill>
                <a:latin typeface="Calibri"/>
              </a:rPr>
              <a:t>SQL Server 2019</a:t>
            </a:r>
          </a:p>
        </p:txBody>
      </p:sp>
      <p:pic>
        <p:nvPicPr>
          <p:cNvPr id="15" name="Picture 14" descr="logo-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325880"/>
            <a:ext cx="1300480" cy="731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2C40"/>
                </a:solidFill>
                <a:latin typeface="Calibri"/>
              </a:rPr>
              <a:t>Docker Compose</a:t>
            </a:r>
          </a:p>
        </p:txBody>
      </p:sp>
      <p:pic>
        <p:nvPicPr>
          <p:cNvPr id="17" name="Picture 16" descr="logo-az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1325880"/>
            <a:ext cx="146304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955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2C40"/>
                </a:solidFill>
                <a:latin typeface="Calibri"/>
              </a:rPr>
              <a:t>Azure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68880"/>
            <a:ext cx="11338560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5786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Scrum Sprint Timeline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63240"/>
            <a:ext cx="2194560" cy="3383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2194560" cy="47548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30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0F7"/>
                </a:solidFill>
                <a:latin typeface="Calibri"/>
              </a:rPr>
              <a:t>Auth &amp;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6FC"/>
                </a:solidFill>
                <a:latin typeface="Calibri"/>
              </a:rPr>
              <a:t>JWT, BCrypt, RBAC, navigation guards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9192" y="3063240"/>
            <a:ext cx="2194560" cy="3383280"/>
          </a:xfrm>
          <a:prstGeom prst="rect">
            <a:avLst/>
          </a:prstGeom>
          <a:solidFill>
            <a:srgbClr val="1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79192" y="3063240"/>
            <a:ext cx="2194560" cy="47548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3630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0F7"/>
                </a:solidFill>
                <a:latin typeface="Calibri"/>
              </a:rPr>
              <a:t>Master Data &amp; Logistics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4114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6FC"/>
                </a:solidFill>
                <a:latin typeface="Calibri"/>
              </a:rPr>
              <a:t>Fleet, circuits, employees, shifts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92624" y="3063240"/>
            <a:ext cx="2194560" cy="3383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92624" y="3063240"/>
            <a:ext cx="2194560" cy="47548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4064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3630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0F7"/>
                </a:solidFill>
                <a:latin typeface="Calibri"/>
              </a:rPr>
              <a:t>Live Tracking &amp;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114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6FC"/>
                </a:solidFill>
                <a:latin typeface="Calibri"/>
              </a:rPr>
              <a:t>Leaflet, WebSocket, telemetry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06056" y="3063240"/>
            <a:ext cx="2194560" cy="3383280"/>
          </a:xfrm>
          <a:prstGeom prst="rect">
            <a:avLst/>
          </a:prstGeom>
          <a:solidFill>
            <a:srgbClr val="1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06056" y="3063240"/>
            <a:ext cx="2194560" cy="47548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7496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3630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0F7"/>
                </a:solidFill>
                <a:latin typeface="Calibri"/>
              </a:rPr>
              <a:t>IoT Ingestion &amp; 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7496" y="4114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6FC"/>
                </a:solidFill>
                <a:latin typeface="Calibri"/>
              </a:rPr>
              <a:t>GPS ingest, geofencing, FastAPI ETA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19488" y="3063240"/>
            <a:ext cx="2194560" cy="3383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19488" y="3063240"/>
            <a:ext cx="2194560" cy="47548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0928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3630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0F7"/>
                </a:solidFill>
                <a:latin typeface="Calibri"/>
              </a:rPr>
              <a:t>BI &amp; 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4114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6FC"/>
                </a:solidFill>
                <a:latin typeface="Calibri"/>
              </a:rPr>
              <a:t>Reports, custom layouts, xUnit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Dashboard &amp;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  <a:latin typeface="Calibri"/>
              </a:rPr>
              <a:t>Central operations cockpit · KPI cards · Live ETA ticker · Attendance donut</a:t>
            </a:r>
          </a:p>
        </p:txBody>
      </p:sp>
      <p:pic>
        <p:nvPicPr>
          <p:cNvPr id="6" name="Picture 5" descr="screen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715000" cy="3242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309360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A3BF"/>
                </a:solidFill>
                <a:latin typeface="Calibri"/>
              </a:rPr>
              <a:t>Central Operations Dashboard</a:t>
            </a:r>
          </a:p>
        </p:txBody>
      </p:sp>
      <p:pic>
        <p:nvPicPr>
          <p:cNvPr id="8" name="Picture 7" descr="screenshot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715000" cy="26621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6309360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A3BF"/>
                </a:solidFill>
                <a:latin typeface="Calibri"/>
              </a:rPr>
              <a:t>Multi-Tenant Authentication Screen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Fleet &amp; Route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  <a:latin typeface="Calibri"/>
              </a:rPr>
              <a:t>Bus catalog · Driver assignments · Circuit definitions · Pickup stops</a:t>
            </a:r>
          </a:p>
        </p:txBody>
      </p:sp>
      <p:pic>
        <p:nvPicPr>
          <p:cNvPr id="6" name="Picture 5" descr="screenshot-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3840480" cy="1961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A3BF"/>
                </a:solidFill>
                <a:latin typeface="Calibri"/>
              </a:rPr>
              <a:t>Fleet Vehicle Catalog &amp; IMEI Pairing</a:t>
            </a:r>
          </a:p>
        </p:txBody>
      </p:sp>
      <p:pic>
        <p:nvPicPr>
          <p:cNvPr id="8" name="Picture 7" descr="screenshot-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143000"/>
            <a:ext cx="3840480" cy="20852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51959" y="6309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A3BF"/>
                </a:solidFill>
                <a:latin typeface="Calibri"/>
              </a:rPr>
              <a:t>Transit Circuit Definitions</a:t>
            </a:r>
          </a:p>
        </p:txBody>
      </p:sp>
      <p:pic>
        <p:nvPicPr>
          <p:cNvPr id="10" name="Picture 9" descr="screenshot-chauffe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8" y="1143000"/>
            <a:ext cx="3840480" cy="19539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8" y="6309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A3BF"/>
                </a:solidFill>
                <a:latin typeface="Calibri"/>
              </a:rPr>
              <a:t>Driver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Live Cartographic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  <a:latin typeface="Calibri"/>
              </a:rPr>
              <a:t>Real-time bus positions · Geofenced deviation alerts · WebSocket streaming</a:t>
            </a:r>
          </a:p>
        </p:txBody>
      </p:sp>
      <p:pic>
        <p:nvPicPr>
          <p:cNvPr id="6" name="Picture 5" descr="screenshot-bus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43000"/>
            <a:ext cx="9445752" cy="4575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63093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A3BF"/>
                </a:solidFill>
                <a:latin typeface="Calibri"/>
              </a:rPr>
              <a:t>Live Fleet Tracking Map — Leaflet.js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Workforce &amp; BI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  <a:latin typeface="Calibri"/>
              </a:rPr>
              <a:t>Employee pickup assignments · Shift schedules · Custom BI layouts</a:t>
            </a:r>
          </a:p>
        </p:txBody>
      </p:sp>
      <p:pic>
        <p:nvPicPr>
          <p:cNvPr id="6" name="Picture 5" descr="screenshot-rattach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715000" cy="29244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309360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A3BF"/>
                </a:solidFill>
                <a:latin typeface="Calibri"/>
              </a:rPr>
              <a:t>Employee Pickup Assignment Map</a:t>
            </a:r>
          </a:p>
        </p:txBody>
      </p:sp>
      <p:pic>
        <p:nvPicPr>
          <p:cNvPr id="8" name="Picture 7" descr="screenshot-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715000" cy="2751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6309360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A3BF"/>
                </a:solidFill>
                <a:latin typeface="Calibri"/>
              </a:rPr>
              <a:t>Business Intelligence &amp; Custom Reports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Predictive Intelligence — ML Microservice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FastAPI · Scikit-Learn · LightGBM · ETA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9436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64008" cy="5257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Machine Learning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5486400" cy="54864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▸  ETA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Scikit-Learn + LightGBM regression trained on historical
transit trajectories. Input: speed, occupancy, circuit ID, distance.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486400" cy="54864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▸  Absence Risk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Evaluates employee boarding patterns to flag
high-risk absenteeism before shifts begin.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133088"/>
            <a:ext cx="5486400" cy="54864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▸  FastAPI Async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44568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POST /predict/eta — asynchronous inference.
Backend calls in parallel for all active buses.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248656"/>
            <a:ext cx="5486400" cy="54864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400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▸  Fault-Tolerant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0136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If ML container is unreachable, system falls back to
deterministic distance ÷ speed heuristics automatically.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280160"/>
            <a:ext cx="521208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280160"/>
            <a:ext cx="64008" cy="5257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UC-3: Predict Bus 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6FC"/>
                </a:solidFill>
                <a:latin typeface="Calibri"/>
              </a:rPr>
              <a:t>1. Operator clicks active bus on live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3230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6FC"/>
                </a:solidFill>
                <a:latin typeface="Calibri"/>
              </a:rPr>
              <a:t>2. Angular → POST /cm/bus/eta to .NET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9443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6FC"/>
                </a:solidFill>
                <a:latin typeface="Calibri"/>
              </a:rPr>
              <a:t>3. Backend aggregates telemetry: speed, coords,
    occupancy, capacity, circuit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564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6FC"/>
                </a:solidFill>
                <a:latin typeface="Calibri"/>
              </a:rPr>
              <a:t>4. .NET → POST http://ml-service:8001/predict/eta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9684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6FC"/>
                </a:solidFill>
                <a:latin typeface="Calibri"/>
              </a:rPr>
              <a:t>5. FastAPI loads model → inference → ETA (minutes)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4805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6FC"/>
                </a:solidFill>
                <a:latin typeface="Calibri"/>
              </a:rPr>
              <a:t>6. API returns prediction to frontend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99262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6FC"/>
                </a:solidFill>
                <a:latin typeface="Calibri"/>
              </a:rPr>
              <a:t>7. Fallback: if ML down → heuristic distance/speed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Testing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xUnit integration tests · Ingestion latency ·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212848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212848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3BF"/>
                </a:solidFill>
                <a:latin typeface="Calibri Light"/>
              </a:rPr>
              <a:t>&lt; 200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2029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2F6FC"/>
                </a:solidFill>
                <a:latin typeface="Calibri"/>
              </a:rPr>
              <a:t>Telemetry ingestion
response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325880"/>
            <a:ext cx="2212848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0048" y="1325880"/>
            <a:ext cx="2212848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146304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3BF"/>
                </a:solidFill>
                <a:latin typeface="Calibri Light"/>
              </a:rPr>
              <a:t>&lt; 500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176272"/>
            <a:ext cx="2029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2F6FC"/>
                </a:solidFill>
                <a:latin typeface="Calibri"/>
              </a:rPr>
              <a:t>BI grid load
(virtual scroll)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4336" y="1325880"/>
            <a:ext cx="2212848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74336" y="1325880"/>
            <a:ext cx="2212848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146304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3BF"/>
                </a:solidFill>
                <a:latin typeface="Calibri Light"/>
              </a:rP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2176272"/>
            <a:ext cx="2029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2F6FC"/>
                </a:solidFill>
                <a:latin typeface="Calibri"/>
              </a:rPr>
              <a:t>Concurrent IoT
modem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8624" y="1325880"/>
            <a:ext cx="2212848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78624" y="1325880"/>
            <a:ext cx="2212848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146304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3BF"/>
                </a:solidFill>
                <a:latin typeface="Calibri Light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2176272"/>
            <a:ext cx="2029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2F6FC"/>
                </a:solidFill>
                <a:latin typeface="Calibri"/>
              </a:rPr>
              <a:t>FR traceability
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82912" y="1325880"/>
            <a:ext cx="2212848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82912" y="1325880"/>
            <a:ext cx="2212848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1463040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3BF"/>
                </a:solidFill>
                <a:latin typeface="Calibri Light"/>
              </a:rPr>
              <a:t>9 /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176272"/>
            <a:ext cx="2029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2F6FC"/>
                </a:solidFill>
                <a:latin typeface="Calibri"/>
              </a:rPr>
              <a:t>Requirements
traced &amp; verified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17520"/>
            <a:ext cx="548640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017520"/>
            <a:ext cx="64008" cy="352044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1272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Testing Strategies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◆  xUnit Unit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5661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Business logic, validators, domain invariants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050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◆  Integration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00507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EF Core in-memory, telemetry ingestion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443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◆  Serilog JSON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44398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Daily rolling structured log files for auditing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828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◆  Rin Request Inspector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88289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Real-time HTTP timeline &amp; DB query profiling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218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◆  FluentValidation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3218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Fail-fast input guards at command boundary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◆  Swagger / OpenAPI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7607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Interactive API contract documentation &amp; testing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017520"/>
            <a:ext cx="557784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3017520"/>
            <a:ext cx="64008" cy="3520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1272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Requirements Traceability Matrix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3611880"/>
            <a:ext cx="1554480" cy="347472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6118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REQ-01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361188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0999" y="36118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Auth / BCrypt / JWT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15600" y="3611880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61320" y="36118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UC-1 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3977640"/>
            <a:ext cx="1554480" cy="347472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977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REQ-04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9" y="397764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0999" y="3977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Telemetry Ingestion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15600" y="3977640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61320" y="3977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UC-2 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4343400"/>
            <a:ext cx="1554480" cy="347472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343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REQ-05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79" y="434340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0999" y="4343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Live Geofencing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15600" y="4343400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61320" y="4343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UC-2 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4709160"/>
            <a:ext cx="1554480" cy="347472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4709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REQ-06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79" y="470916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00999" y="4709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Cartographic Map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0" y="4709160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61320" y="4709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UC-2 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5080" y="5074920"/>
            <a:ext cx="1554480" cy="347472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5074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REQ-07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79" y="507492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00999" y="5074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ML ETA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5074920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61320" y="5074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UC-3 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5440680"/>
            <a:ext cx="1554480" cy="347472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5440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REQ-08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79" y="544068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0999" y="5440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Custom BI Layouts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15600" y="5440680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561320" y="5440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UC-6 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55080" y="5806440"/>
            <a:ext cx="1554480" cy="347472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0" y="5806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REQ-09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55279" y="580644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00999" y="5806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Pickup Assignment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515600" y="5806440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61320" y="5806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C40"/>
                </a:solidFill>
                <a:latin typeface="Calibri"/>
              </a:rPr>
              <a:t>UC-5 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0" b="1" i="0">
                <a:solidFill>
                  <a:srgbClr val="1A2D55"/>
                </a:solidFill>
                <a:latin typeface="Calibri Light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3BF"/>
                </a:solidFill>
                <a:latin typeface="Calibri"/>
              </a:rPr>
              <a:t>Chapter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Conclusion &amp; 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4572000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F0F7"/>
                </a:solidFill>
                <a:latin typeface="Calibri"/>
              </a:rPr>
              <a:t>Contributions · Insights · Future extensions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2188952" cy="64008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3E"/>
                </a:solidFill>
                <a:latin typeface="Calibri Light"/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A3BF"/>
                </a:solidFill>
                <a:latin typeface="Calibri"/>
              </a:rPr>
              <a:t>Contributions · Technical insights · Future extensions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64008" cy="5257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Project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Clean Architecture .NET 8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219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CQRS/MediatR, inward-only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Encapsulated DDD Domain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71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Private setters, ULID factory constructors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015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Real-Time Telemetry &amp; Geofencing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21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Haversine-based route deviation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513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513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Angular 19 SPA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714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Leaflet map, DevExtreme grids, Transloco i18n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011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ML FastAPI Microservice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212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ETA forecasting + absence risk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509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Containerized Docker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971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  <a:latin typeface="Calibri"/>
              </a:rPr>
              <a:t>Nginx · .NET · SQL Server · FastAPI isolated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280160"/>
            <a:ext cx="557784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280160"/>
            <a:ext cx="64008" cy="5257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3898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C40"/>
                </a:solidFill>
                <a:latin typeface="Calibri"/>
              </a:rPr>
              <a:t>Future Perspectives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901952"/>
            <a:ext cx="5212080" cy="36576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9751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🔍 GPS Anomaly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34086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ML models to flag GPS spoofing, unauthorized
detours, and fraudulent RFID badge scans.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999232"/>
            <a:ext cx="5212080" cy="36576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072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🗺 Dynamic Route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43814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VRP algorithms computing optimal paths from
employee home coordinates to minimize mileage.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096512"/>
            <a:ext cx="5212080" cy="36576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1696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🔧 Predictive Fleet Maintenance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53542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Telemetry diagnostics (voltage, speed profiles)
to forecast engine failures before breakdowns.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193792"/>
            <a:ext cx="5212080" cy="36576"/>
          </a:xfrm>
          <a:prstGeom prst="rect">
            <a:avLst/>
          </a:prstGeom>
          <a:solidFill>
            <a:srgbClr val="CC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66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📊 Demand-Driven Fleet Sizing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63270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Historical occupancy analysis to dynamically
allocate bus sizes per pickup point per shift.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A3B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160520"/>
            <a:ext cx="3959352" cy="4572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0F7"/>
                </a:solidFill>
                <a:latin typeface="Calibri"/>
              </a:rPr>
              <a:t>CST LePoint  ·  Fleet Tracking &amp; Workforce Attendance Platform
Canadian System Technology (CST)  ·  Academic Year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