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 President, distinguished members of the jury, supervisors, and colleagues. Welcome to my graduation project defense. Today, I am proud to present CST LePoint, a full-stack enterprise IoT fleet telemetry, RFID attendance tracking, and AI-driven arrival forecasting platform developed in collaboration with CST.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defense follows seven core sections: starting with the corporate context and existing workflow analysis, moving through our agile specifications and multi-tier Clean Architecture, detailing our technical implementation, showcasing the working platform modules, and concluding with project impact and future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CST is an IT and IoT software engineering company based in Tunisia. Observing an urgent demand in the industrial and transit sectors to modernize employee transportation, CST initiated the commercial development of CST LePoint. As a multi-tenant B2B SaaS product, it unifies vehicle telemetry, worker RFID pointage, and machine learning ETA prediction.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examine the study of the existing. We will trace the traditional paper-based transit workflows, benchmark existing market telematics tools, and highlight the critical pain points that motivated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traditional workflow, transit operations suffer from extreme fragmentation. Dispatch is handled manually, drivers struggle to check names on paper sheets while driving, and dispatchers are completely blind during transit. Reconciling paper rosters into Excel takes days, leading to frequent invoicing disputes.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Evaluating existing market alternatives revealed a critical divide: generic GPS trackers offer location dots on a map with zero awareness of worker identities or factory shifts. Conversely, standard HR biometric clocks only record attendance once workers arrive at factory turnstiles. CST LePoint bridges this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synthesize the operational problem statement into four critical challenges: First, Zero Real-Time Visibility, leaving supervisors blind. Second, Unmonitored Route Deviations, driving up fuel costs. Third, Arrival Time Uncertainty, stranding workers. And fourth, Data Silos and Fraud Risk. Solving these four challenges defined the functional scope of CST LePoint.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agile adaptability and continuous delivery, we adopted the Agile Scrum framework across five two-week sprints: establishing multi-tenant foundations in Sprint 1, master logistics in Sprint 2, live cartography in Sprint 3, IoT telemetry and AI predictions in Sprint 4, and BI reporting and internationalization in Sprint 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fulfills 21 functional user stories across five operational modules. On the non-functional side, we established sub-200ms ingestion latency, support for 50+ concurrent modems, strict multi-tenant data partitioning, and 6-language internationalization including Arabic RTL.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structured into four decoupled tiers: The Field IoT tier captures raw vehicular telemetry; the Angular SPA delivers real-time cartography; the .NET 8 central backend orchestrates business logic via CQRS; and the Data &amp; Intelligence tier pairs SQL Server with a dedicated Python FastAPI ML microservice.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backend strictly follows Clean Architecture across four decoupled assemblies. By implementing CQRS with MediatR, write commands and read queries are isolated. Every command executes through an automated pipeline handling validation and transactional Unit-of-Work.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CST LePoint incorporates two automated engines: Our 250-meter Geofencing Engine computes Haversine spatial offsets to flag detours instantly, while our FastAPI Machine Learning Microservice utilizes LightGBM to predict arrival timestamps at downstream pickup stops.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stack combines .NET 8 on the backend, Angular 18 on the frontend, Python 3.11 with FastAPI for machine learning, SQL Server 2019 for enterprise relational data, and Docker Compose for containerized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relational schema is partitioned into five distinct clusters: Tenant Identity, Fleet Hardware, Logistics Routing, Workforce Shifts, and Custom Analytics. Global query filters enforce SocieteId tenant separation on every database access.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Cartographic Supervision interface. Operators monitor active vehicles in real-time with SVG markers reflecting live heading. The planned circuit polyline and geofenced stops are rendered on screen, with immediate detour alerts if a bus strays beyond 250 meters.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screen demonstrates Master Planning and Attendance Management. On the left, operators sequence pickup circuits with drag-and-drop checkpoints. On the right, employees are assigned to pickup stops and RFID badges, allowing instant presence registration against factory work orders.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showcase our Predictive AI and BI modules. The ETA module queries FastAPI to calculate arrival forecasts for upcoming stops. On the reporting side, DevExtreme datagrids allow analysts to group and filter records, and export comprehensive audit reports to Excel and 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graduation project delivered the CST LePoint platform, achieving 100% of our planned user stories. The solution transforms traditional, error-prone transportation into an automated, real-time, and predictive SaaS product, eliminating paper rosters and providing complete operational visibility.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CST has a clear commercial roadmap: In the short term, a dedicated Driver Tablet App for navigation; in the medium term, a Passenger Mobile App for live arrival alerts; and in the long term, AI-driven dynamic route optimization based on daily attendance.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Mr. President, and esteemed members of the jury, for your kind attention. I am now ready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0" y="1097280"/>
            <a:ext cx="4572000" cy="466344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0" y="1371600"/>
            <a:ext cx="4023360" cy="4114800"/>
          </a:xfrm>
          <a:prstGeom prst="rect">
            <a:avLst/>
          </a:prstGeom>
          <a:noFill/>
        </p:spPr>
        <p:txBody>
          <a:bodyPr wrap="square">
            <a:spAutoFit/>
          </a:bodyPr>
          <a:lstStyle/>
          <a:p>
            <a:pPr>
              <a:defRPr sz="1400" b="1">
                <a:solidFill>
                  <a:srgbClr val="0EA5E9"/>
                </a:solidFill>
              </a:defRPr>
            </a:pPr>
            <a:r>
              <a:t>CORE PILLARS</a:t>
            </a:r>
          </a:p>
          <a:p>
            <a:pPr>
              <a:spcBef>
                <a:spcPts val="1000"/>
              </a:spcBef>
              <a:defRPr sz="1200" b="1">
                <a:solidFill>
                  <a:srgbClr val="F8FAFC"/>
                </a:solidFill>
              </a:defRPr>
            </a:pPr>
            <a:r>
              <a:t>📡 Real-Time IoT Fleet Telemetry</a:t>
            </a:r>
          </a:p>
          <a:p>
            <a:pPr>
              <a:defRPr sz="1000">
                <a:solidFill>
                  <a:srgbClr val="94A3B8"/>
                </a:solidFill>
              </a:defRPr>
            </a:pPr>
            <a:r>
              <a:t>GPS coordinate ingestion &amp; sub-second tracking.</a:t>
            </a:r>
          </a:p>
          <a:p>
            <a:pPr>
              <a:spcBef>
                <a:spcPts val="1000"/>
              </a:spcBef>
              <a:defRPr sz="1200" b="1">
                <a:solidFill>
                  <a:srgbClr val="F8FAFC"/>
                </a:solidFill>
              </a:defRPr>
            </a:pPr>
            <a:r>
              <a:t>🏷️ RFID Attendance Supervision</a:t>
            </a:r>
          </a:p>
          <a:p>
            <a:pPr>
              <a:defRPr sz="1000">
                <a:solidFill>
                  <a:srgbClr val="94A3B8"/>
                </a:solidFill>
              </a:defRPr>
            </a:pPr>
            <a:r>
              <a:t>Mobile passenger &amp; driver pointage mapped to shifts.</a:t>
            </a:r>
          </a:p>
          <a:p>
            <a:pPr>
              <a:spcBef>
                <a:spcPts val="1000"/>
              </a:spcBef>
              <a:defRPr sz="1200" b="1">
                <a:solidFill>
                  <a:srgbClr val="F8FAFC"/>
                </a:solidFill>
              </a:defRPr>
            </a:pPr>
            <a:r>
              <a:t>🤖 Machine Learning ETA Forecasting</a:t>
            </a:r>
          </a:p>
          <a:p>
            <a:pPr>
              <a:defRPr sz="1000">
                <a:solidFill>
                  <a:srgbClr val="94A3B8"/>
                </a:solidFill>
              </a:defRPr>
            </a:pPr>
            <a:r>
              <a:t>FastAPI predictive service estimating arrival at stops.</a:t>
            </a:r>
          </a:p>
          <a:p>
            <a:pPr>
              <a:spcBef>
                <a:spcPts val="1000"/>
              </a:spcBef>
              <a:defRPr sz="1200" b="1">
                <a:solidFill>
                  <a:srgbClr val="F8FAFC"/>
                </a:solidFill>
              </a:defRPr>
            </a:pPr>
            <a:r>
              <a:t>🏢 Multi-Tenant SaaS Architecture</a:t>
            </a:r>
          </a:p>
          <a:p>
            <a:pPr>
              <a:defRPr sz="1000">
                <a:solidFill>
                  <a:srgbClr val="94A3B8"/>
                </a:solidFill>
              </a:defRPr>
            </a:pPr>
            <a:r>
              <a:t>Strict tenant data isolation for corporate commercialization.</a:t>
            </a:r>
          </a:p>
        </p:txBody>
      </p:sp>
      <p:sp>
        <p:nvSpPr>
          <p:cNvPr id="5" name="TextBox 4"/>
          <p:cNvSpPr txBox="1"/>
          <p:nvPr/>
        </p:nvSpPr>
        <p:spPr>
          <a:xfrm>
            <a:off x="731520" y="1280160"/>
            <a:ext cx="5669280" cy="4389120"/>
          </a:xfrm>
          <a:prstGeom prst="rect">
            <a:avLst/>
          </a:prstGeom>
          <a:noFill/>
        </p:spPr>
        <p:txBody>
          <a:bodyPr wrap="square">
            <a:spAutoFit/>
          </a:bodyPr>
          <a:lstStyle/>
          <a:p>
            <a:pPr>
              <a:defRPr sz="1200" b="1">
                <a:solidFill>
                  <a:srgbClr val="10B981"/>
                </a:solidFill>
              </a:defRPr>
            </a:pPr>
            <a:r>
              <a:t>GRADUATION PROJECT DEFENSE (PFE)</a:t>
            </a:r>
          </a:p>
          <a:p>
            <a:pPr>
              <a:spcBef>
                <a:spcPts val="800"/>
              </a:spcBef>
              <a:defRPr sz="3600" b="1">
                <a:solidFill>
                  <a:srgbClr val="F8FAFC"/>
                </a:solidFill>
              </a:defRPr>
            </a:pPr>
            <a:r>
              <a:t>CST LePoint</a:t>
            </a:r>
          </a:p>
          <a:p>
            <a:pPr>
              <a:spcBef>
                <a:spcPts val="600"/>
              </a:spcBef>
              <a:defRPr sz="1500">
                <a:solidFill>
                  <a:srgbClr val="BAE6FD"/>
                </a:solidFill>
              </a:defRPr>
            </a:pPr>
            <a:r>
              <a:t>Smart Fleet Telemetry, RFID Attendance Pointage &amp; AI-Driven ETA Forecasting Platform</a:t>
            </a:r>
          </a:p>
          <a:p>
            <a:pPr>
              <a:spcBef>
                <a:spcPts val="2400"/>
              </a:spcBef>
              <a:defRPr sz="1200">
                <a:solidFill>
                  <a:srgbClr val="94A3B8"/>
                </a:solidFill>
              </a:defRPr>
            </a:pPr>
            <a:r>
              <a:t>Host Company: CST (Compagnie de Services et Technologies)</a:t>
            </a:r>
            <a:br/>
            <a:r>
              <a:t>Candidate: Rayen</a:t>
            </a:r>
            <a:br/>
            <a:r>
              <a:t>Academic Year: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OVERVIEW</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Presentation Agenda</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[2]</a:t>
            </a:r>
          </a:p>
        </p:txBody>
      </p:sp>
      <p:sp>
        <p:nvSpPr>
          <p:cNvPr id="7" name="Rounded Rectangle 6"/>
          <p:cNvSpPr/>
          <p:nvPr/>
        </p:nvSpPr>
        <p:spPr>
          <a:xfrm>
            <a:off x="731520" y="1463040"/>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645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01</a:t>
            </a:r>
          </a:p>
        </p:txBody>
      </p:sp>
      <p:sp>
        <p:nvSpPr>
          <p:cNvPr id="9" name="TextBox 8"/>
          <p:cNvSpPr txBox="1"/>
          <p:nvPr/>
        </p:nvSpPr>
        <p:spPr>
          <a:xfrm>
            <a:off x="1600200" y="1572768"/>
            <a:ext cx="4114800" cy="777240"/>
          </a:xfrm>
          <a:prstGeom prst="rect">
            <a:avLst/>
          </a:prstGeom>
          <a:noFill/>
        </p:spPr>
        <p:txBody>
          <a:bodyPr wrap="square">
            <a:spAutoFit/>
          </a:bodyPr>
          <a:lstStyle/>
          <a:p>
            <a:pPr>
              <a:defRPr sz="1300" b="1">
                <a:solidFill>
                  <a:srgbClr val="F8FAFC"/>
                </a:solidFill>
              </a:defRPr>
            </a:pPr>
            <a:r>
              <a:t>General Context</a:t>
            </a:r>
          </a:p>
          <a:p>
            <a:pPr>
              <a:defRPr sz="1000">
                <a:solidFill>
                  <a:srgbClr val="94A3B8"/>
                </a:solidFill>
              </a:defRPr>
            </a:pPr>
            <a:r>
              <a:t>Host company profile, SaaS product vision &amp; target market.</a:t>
            </a:r>
          </a:p>
        </p:txBody>
      </p:sp>
      <p:sp>
        <p:nvSpPr>
          <p:cNvPr id="10" name="Rounded Rectangle 9"/>
          <p:cNvSpPr/>
          <p:nvPr/>
        </p:nvSpPr>
        <p:spPr>
          <a:xfrm>
            <a:off x="731520" y="2606040"/>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788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02</a:t>
            </a:r>
          </a:p>
        </p:txBody>
      </p:sp>
      <p:sp>
        <p:nvSpPr>
          <p:cNvPr id="12" name="TextBox 11"/>
          <p:cNvSpPr txBox="1"/>
          <p:nvPr/>
        </p:nvSpPr>
        <p:spPr>
          <a:xfrm>
            <a:off x="1600200" y="2715768"/>
            <a:ext cx="4114800" cy="777240"/>
          </a:xfrm>
          <a:prstGeom prst="rect">
            <a:avLst/>
          </a:prstGeom>
          <a:noFill/>
        </p:spPr>
        <p:txBody>
          <a:bodyPr wrap="square">
            <a:spAutoFit/>
          </a:bodyPr>
          <a:lstStyle/>
          <a:p>
            <a:pPr>
              <a:defRPr sz="1300" b="1">
                <a:solidFill>
                  <a:srgbClr val="F8FAFC"/>
                </a:solidFill>
              </a:defRPr>
            </a:pPr>
            <a:r>
              <a:t>Study of the Existing</a:t>
            </a:r>
          </a:p>
          <a:p>
            <a:pPr>
              <a:defRPr sz="1000">
                <a:solidFill>
                  <a:srgbClr val="94A3B8"/>
                </a:solidFill>
              </a:defRPr>
            </a:pPr>
            <a:r>
              <a:t>Traditional 'As-Is' process, market benchmark &amp; pain points.</a:t>
            </a:r>
          </a:p>
        </p:txBody>
      </p:sp>
      <p:sp>
        <p:nvSpPr>
          <p:cNvPr id="13" name="Rounded Rectangle 12"/>
          <p:cNvSpPr/>
          <p:nvPr/>
        </p:nvSpPr>
        <p:spPr>
          <a:xfrm>
            <a:off x="731520" y="3749039"/>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931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03</a:t>
            </a:r>
          </a:p>
        </p:txBody>
      </p:sp>
      <p:sp>
        <p:nvSpPr>
          <p:cNvPr id="15" name="TextBox 14"/>
          <p:cNvSpPr txBox="1"/>
          <p:nvPr/>
        </p:nvSpPr>
        <p:spPr>
          <a:xfrm>
            <a:off x="1600200" y="3858768"/>
            <a:ext cx="4114800" cy="777240"/>
          </a:xfrm>
          <a:prstGeom prst="rect">
            <a:avLst/>
          </a:prstGeom>
          <a:noFill/>
        </p:spPr>
        <p:txBody>
          <a:bodyPr wrap="square">
            <a:spAutoFit/>
          </a:bodyPr>
          <a:lstStyle/>
          <a:p>
            <a:pPr>
              <a:defRPr sz="1300" b="1">
                <a:solidFill>
                  <a:srgbClr val="F8FAFC"/>
                </a:solidFill>
              </a:defRPr>
            </a:pPr>
            <a:r>
              <a:t>Requirements &amp; Methodology</a:t>
            </a:r>
          </a:p>
          <a:p>
            <a:pPr>
              <a:defRPr sz="1000">
                <a:solidFill>
                  <a:srgbClr val="94A3B8"/>
                </a:solidFill>
              </a:defRPr>
            </a:pPr>
            <a:r>
              <a:t>21 User Stories, Non-functional criteria &amp; Agile Scrum sprints.</a:t>
            </a:r>
          </a:p>
        </p:txBody>
      </p:sp>
      <p:sp>
        <p:nvSpPr>
          <p:cNvPr id="16" name="Rounded Rectangle 15"/>
          <p:cNvSpPr/>
          <p:nvPr/>
        </p:nvSpPr>
        <p:spPr>
          <a:xfrm>
            <a:off x="731520" y="4892040"/>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5074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04</a:t>
            </a:r>
          </a:p>
        </p:txBody>
      </p:sp>
      <p:sp>
        <p:nvSpPr>
          <p:cNvPr id="18" name="TextBox 17"/>
          <p:cNvSpPr txBox="1"/>
          <p:nvPr/>
        </p:nvSpPr>
        <p:spPr>
          <a:xfrm>
            <a:off x="1600200" y="5001768"/>
            <a:ext cx="4114800" cy="777240"/>
          </a:xfrm>
          <a:prstGeom prst="rect">
            <a:avLst/>
          </a:prstGeom>
          <a:noFill/>
        </p:spPr>
        <p:txBody>
          <a:bodyPr wrap="square">
            <a:spAutoFit/>
          </a:bodyPr>
          <a:lstStyle/>
          <a:p>
            <a:pPr>
              <a:defRPr sz="1300" b="1">
                <a:solidFill>
                  <a:srgbClr val="F8FAFC"/>
                </a:solidFill>
              </a:defRPr>
            </a:pPr>
            <a:r>
              <a:t>Proposed Solution</a:t>
            </a:r>
          </a:p>
          <a:p>
            <a:pPr>
              <a:defRPr sz="1000">
                <a:solidFill>
                  <a:srgbClr val="94A3B8"/>
                </a:solidFill>
              </a:defRPr>
            </a:pPr>
            <a:r>
              <a:t>4-tier architecture, Clean Architecture, CQRS &amp; AI design.</a:t>
            </a:r>
          </a:p>
        </p:txBody>
      </p:sp>
      <p:sp>
        <p:nvSpPr>
          <p:cNvPr id="19" name="Rounded Rectangle 18"/>
          <p:cNvSpPr/>
          <p:nvPr/>
        </p:nvSpPr>
        <p:spPr>
          <a:xfrm>
            <a:off x="6126480" y="1463040"/>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63640" y="1645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05</a:t>
            </a:r>
          </a:p>
        </p:txBody>
      </p:sp>
      <p:sp>
        <p:nvSpPr>
          <p:cNvPr id="21" name="TextBox 20"/>
          <p:cNvSpPr txBox="1"/>
          <p:nvPr/>
        </p:nvSpPr>
        <p:spPr>
          <a:xfrm>
            <a:off x="6995160" y="1572768"/>
            <a:ext cx="4114800" cy="777240"/>
          </a:xfrm>
          <a:prstGeom prst="rect">
            <a:avLst/>
          </a:prstGeom>
          <a:noFill/>
        </p:spPr>
        <p:txBody>
          <a:bodyPr wrap="square">
            <a:spAutoFit/>
          </a:bodyPr>
          <a:lstStyle/>
          <a:p>
            <a:pPr>
              <a:defRPr sz="1300" b="1">
                <a:solidFill>
                  <a:srgbClr val="F8FAFC"/>
                </a:solidFill>
              </a:defRPr>
            </a:pPr>
            <a:r>
              <a:t>Implementation &amp; Realization</a:t>
            </a:r>
          </a:p>
          <a:p>
            <a:pPr>
              <a:defRPr sz="1000">
                <a:solidFill>
                  <a:srgbClr val="94A3B8"/>
                </a:solidFill>
              </a:defRPr>
            </a:pPr>
            <a:r>
              <a:t>Technology stack selection, backend, frontend &amp; data models.</a:t>
            </a:r>
          </a:p>
        </p:txBody>
      </p:sp>
      <p:sp>
        <p:nvSpPr>
          <p:cNvPr id="22" name="Rounded Rectangle 21"/>
          <p:cNvSpPr/>
          <p:nvPr/>
        </p:nvSpPr>
        <p:spPr>
          <a:xfrm>
            <a:off x="6126480" y="2606040"/>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63640" y="2788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06</a:t>
            </a:r>
          </a:p>
        </p:txBody>
      </p:sp>
      <p:sp>
        <p:nvSpPr>
          <p:cNvPr id="24" name="TextBox 23"/>
          <p:cNvSpPr txBox="1"/>
          <p:nvPr/>
        </p:nvSpPr>
        <p:spPr>
          <a:xfrm>
            <a:off x="6995160" y="2715768"/>
            <a:ext cx="4114800" cy="777240"/>
          </a:xfrm>
          <a:prstGeom prst="rect">
            <a:avLst/>
          </a:prstGeom>
          <a:noFill/>
        </p:spPr>
        <p:txBody>
          <a:bodyPr wrap="square">
            <a:spAutoFit/>
          </a:bodyPr>
          <a:lstStyle/>
          <a:p>
            <a:pPr>
              <a:defRPr sz="1300" b="1">
                <a:solidFill>
                  <a:srgbClr val="F8FAFC"/>
                </a:solidFill>
              </a:defRPr>
            </a:pPr>
            <a:r>
              <a:t>Showcase &amp; Live Demo</a:t>
            </a:r>
          </a:p>
          <a:p>
            <a:pPr>
              <a:defRPr sz="1000">
                <a:solidFill>
                  <a:srgbClr val="94A3B8"/>
                </a:solidFill>
              </a:defRPr>
            </a:pPr>
            <a:r>
              <a:t>Cartography supervision, RFID pointage, AI ETA &amp; BI reporting.</a:t>
            </a:r>
          </a:p>
        </p:txBody>
      </p:sp>
      <p:sp>
        <p:nvSpPr>
          <p:cNvPr id="25" name="Rounded Rectangle 24"/>
          <p:cNvSpPr/>
          <p:nvPr/>
        </p:nvSpPr>
        <p:spPr>
          <a:xfrm>
            <a:off x="6126480" y="3749039"/>
            <a:ext cx="5120640" cy="1005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63640" y="3931920"/>
            <a:ext cx="640080" cy="64008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B0F19"/>
                </a:solidFill>
              </a:defRPr>
            </a:pPr>
            <a:r>
              <a:t>07</a:t>
            </a:r>
          </a:p>
        </p:txBody>
      </p:sp>
      <p:sp>
        <p:nvSpPr>
          <p:cNvPr id="27" name="TextBox 26"/>
          <p:cNvSpPr txBox="1"/>
          <p:nvPr/>
        </p:nvSpPr>
        <p:spPr>
          <a:xfrm>
            <a:off x="6995160" y="3858768"/>
            <a:ext cx="4114800" cy="777240"/>
          </a:xfrm>
          <a:prstGeom prst="rect">
            <a:avLst/>
          </a:prstGeom>
          <a:noFill/>
        </p:spPr>
        <p:txBody>
          <a:bodyPr wrap="square">
            <a:spAutoFit/>
          </a:bodyPr>
          <a:lstStyle/>
          <a:p>
            <a:pPr>
              <a:defRPr sz="1300" b="1">
                <a:solidFill>
                  <a:srgbClr val="F8FAFC"/>
                </a:solidFill>
              </a:defRPr>
            </a:pPr>
            <a:r>
              <a:t>Conclusion &amp; Perspectives</a:t>
            </a:r>
          </a:p>
          <a:p>
            <a:pPr>
              <a:defRPr sz="1000">
                <a:solidFill>
                  <a:srgbClr val="94A3B8"/>
                </a:solidFill>
              </a:defRPr>
            </a:pPr>
            <a:r>
              <a:t>Measurable impact, achievements &amp; future product evolution.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01 | GENERAL CONTEXT</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Host Organization &amp; SaaS Product Vision</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[3]</a:t>
            </a:r>
          </a:p>
        </p:txBody>
      </p:sp>
      <p:sp>
        <p:nvSpPr>
          <p:cNvPr id="7" name="Rounded Rectangle 6"/>
          <p:cNvSpPr/>
          <p:nvPr/>
        </p:nvSpPr>
        <p:spPr>
          <a:xfrm>
            <a:off x="731520" y="1463040"/>
            <a:ext cx="521208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Host Entity: CST Tunisia</a:t>
            </a:r>
          </a:p>
        </p:txBody>
      </p:sp>
      <p:sp>
        <p:nvSpPr>
          <p:cNvPr id="9" name="TextBox 8"/>
          <p:cNvSpPr txBox="1"/>
          <p:nvPr/>
        </p:nvSpPr>
        <p:spPr>
          <a:xfrm>
            <a:off x="960120" y="2011680"/>
            <a:ext cx="4754880" cy="2743200"/>
          </a:xfrm>
          <a:prstGeom prst="rect">
            <a:avLst/>
          </a:prstGeom>
          <a:noFill/>
        </p:spPr>
        <p:txBody>
          <a:bodyPr wrap="square">
            <a:spAutoFit/>
          </a:bodyPr>
          <a:lstStyle/>
          <a:p>
            <a:pPr>
              <a:spcBef>
                <a:spcPts val="600"/>
              </a:spcBef>
              <a:defRPr sz="1200" b="1">
                <a:solidFill>
                  <a:srgbClr val="F8FAFC"/>
                </a:solidFill>
              </a:defRPr>
            </a:pPr>
            <a:r>
              <a:t>• IT Software &amp; IoT Solutions Provider</a:t>
            </a:r>
          </a:p>
          <a:p>
            <a:pPr>
              <a:defRPr sz="1000">
                <a:solidFill>
                  <a:srgbClr val="94A3B8"/>
                </a:solidFill>
              </a:defRPr>
            </a:pPr>
            <a:r>
              <a:t>   Specialized in smart enterprise platforms and IoT integration.</a:t>
            </a:r>
          </a:p>
          <a:p>
            <a:pPr>
              <a:spcBef>
                <a:spcPts val="600"/>
              </a:spcBef>
              <a:defRPr sz="1200" b="1">
                <a:solidFill>
                  <a:srgbClr val="F8FAFC"/>
                </a:solidFill>
              </a:defRPr>
            </a:pPr>
            <a:r>
              <a:t>• Commercial Software Vendor</a:t>
            </a:r>
          </a:p>
          <a:p>
            <a:pPr>
              <a:defRPr sz="1000">
                <a:solidFill>
                  <a:srgbClr val="94A3B8"/>
                </a:solidFill>
              </a:defRPr>
            </a:pPr>
            <a:r>
              <a:t>   Creates and markets proprietary B2B software solutions.</a:t>
            </a:r>
          </a:p>
          <a:p>
            <a:pPr>
              <a:spcBef>
                <a:spcPts val="600"/>
              </a:spcBef>
              <a:defRPr sz="1200" b="1">
                <a:solidFill>
                  <a:srgbClr val="F8FAFC"/>
                </a:solidFill>
              </a:defRPr>
            </a:pPr>
            <a:r>
              <a:t>• Strategic Initiative</a:t>
            </a:r>
          </a:p>
          <a:p>
            <a:pPr>
              <a:defRPr sz="1000">
                <a:solidFill>
                  <a:srgbClr val="94A3B8"/>
                </a:solidFill>
              </a:defRPr>
            </a:pPr>
            <a:r>
              <a:t>   Developing CST LePoint to address critical inefficiencies in the corporate transit market.</a:t>
            </a:r>
          </a:p>
        </p:txBody>
      </p:sp>
      <p:sp>
        <p:nvSpPr>
          <p:cNvPr id="10" name="Rounded Rectangle 9"/>
          <p:cNvSpPr/>
          <p:nvPr/>
        </p:nvSpPr>
        <p:spPr>
          <a:xfrm>
            <a:off x="6217920" y="1463040"/>
            <a:ext cx="521208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The Commercial Product Vision</a:t>
            </a:r>
          </a:p>
        </p:txBody>
      </p:sp>
      <p:sp>
        <p:nvSpPr>
          <p:cNvPr id="12" name="TextBox 11"/>
          <p:cNvSpPr txBox="1"/>
          <p:nvPr/>
        </p:nvSpPr>
        <p:spPr>
          <a:xfrm>
            <a:off x="6446520" y="2011680"/>
            <a:ext cx="4754880" cy="2743200"/>
          </a:xfrm>
          <a:prstGeom prst="rect">
            <a:avLst/>
          </a:prstGeom>
          <a:noFill/>
        </p:spPr>
        <p:txBody>
          <a:bodyPr wrap="square">
            <a:spAutoFit/>
          </a:bodyPr>
          <a:lstStyle/>
          <a:p>
            <a:pPr>
              <a:spcBef>
                <a:spcPts val="600"/>
              </a:spcBef>
              <a:defRPr sz="1200" b="1">
                <a:solidFill>
                  <a:srgbClr val="F8FAFC"/>
                </a:solidFill>
              </a:defRPr>
            </a:pPr>
            <a:r>
              <a:t>• Multi-Tenant B2B SaaS</a:t>
            </a:r>
          </a:p>
          <a:p>
            <a:pPr>
              <a:defRPr sz="1000">
                <a:solidFill>
                  <a:srgbClr val="94A3B8"/>
                </a:solidFill>
              </a:defRPr>
            </a:pPr>
            <a:r>
              <a:t>   Single platform serving multiple client companies with strict data isolation.</a:t>
            </a:r>
          </a:p>
          <a:p>
            <a:pPr>
              <a:spcBef>
                <a:spcPts val="600"/>
              </a:spcBef>
              <a:defRPr sz="1200" b="1">
                <a:solidFill>
                  <a:srgbClr val="F8FAFC"/>
                </a:solidFill>
              </a:defRPr>
            </a:pPr>
            <a:r>
              <a:t>• Turnkey Smart Transit Suite</a:t>
            </a:r>
          </a:p>
          <a:p>
            <a:pPr>
              <a:defRPr sz="1000">
                <a:solidFill>
                  <a:srgbClr val="94A3B8"/>
                </a:solidFill>
              </a:defRPr>
            </a:pPr>
            <a:r>
              <a:t>   Combines live vehicle tracking, RFID passenger pointage, and ML arrival forecasting.</a:t>
            </a:r>
          </a:p>
          <a:p>
            <a:pPr>
              <a:spcBef>
                <a:spcPts val="600"/>
              </a:spcBef>
              <a:defRPr sz="1200" b="1">
                <a:solidFill>
                  <a:srgbClr val="F8FAFC"/>
                </a:solidFill>
              </a:defRPr>
            </a:pPr>
            <a:r>
              <a:t>• Target Customer Segments</a:t>
            </a:r>
          </a:p>
          <a:p>
            <a:pPr>
              <a:defRPr sz="1000">
                <a:solidFill>
                  <a:srgbClr val="94A3B8"/>
                </a:solidFill>
              </a:defRPr>
            </a:pPr>
            <a:r>
              <a:t>   Private transit subcontractors, industrial manufacturing plants, corporate fleets.</a:t>
            </a:r>
          </a:p>
        </p:txBody>
      </p:sp>
      <p:sp>
        <p:nvSpPr>
          <p:cNvPr id="13" name="Rounded Rectangle 12"/>
          <p:cNvSpPr/>
          <p:nvPr/>
        </p:nvSpPr>
        <p:spPr>
          <a:xfrm>
            <a:off x="731520" y="5120640"/>
            <a:ext cx="3383280" cy="1097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212080"/>
            <a:ext cx="3108960" cy="914400"/>
          </a:xfrm>
          <a:prstGeom prst="rect">
            <a:avLst/>
          </a:prstGeom>
          <a:noFill/>
        </p:spPr>
        <p:txBody>
          <a:bodyPr wrap="square">
            <a:spAutoFit/>
          </a:bodyPr>
          <a:lstStyle/>
          <a:p>
            <a:pPr>
              <a:defRPr sz="1200" b="1">
                <a:solidFill>
                  <a:srgbClr val="0EA5E9"/>
                </a:solidFill>
              </a:defRPr>
            </a:pPr>
            <a:r>
              <a:t>🏢 Multi-Tenancy</a:t>
            </a:r>
          </a:p>
          <a:p>
            <a:pPr>
              <a:defRPr sz="950">
                <a:solidFill>
                  <a:srgbClr val="F8FAFC"/>
                </a:solidFill>
              </a:defRPr>
            </a:pPr>
            <a:r>
              <a:t>SocieteId data partitioning across all tiers</a:t>
            </a:r>
          </a:p>
        </p:txBody>
      </p:sp>
      <p:sp>
        <p:nvSpPr>
          <p:cNvPr id="15" name="Rounded Rectangle 14"/>
          <p:cNvSpPr/>
          <p:nvPr/>
        </p:nvSpPr>
        <p:spPr>
          <a:xfrm>
            <a:off x="4325112" y="5120640"/>
            <a:ext cx="3383280" cy="1097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5212080"/>
            <a:ext cx="3108960" cy="914400"/>
          </a:xfrm>
          <a:prstGeom prst="rect">
            <a:avLst/>
          </a:prstGeom>
          <a:noFill/>
        </p:spPr>
        <p:txBody>
          <a:bodyPr wrap="square">
            <a:spAutoFit/>
          </a:bodyPr>
          <a:lstStyle/>
          <a:p>
            <a:pPr>
              <a:defRPr sz="1200" b="1">
                <a:solidFill>
                  <a:srgbClr val="0EA5E9"/>
                </a:solidFill>
              </a:defRPr>
            </a:pPr>
            <a:r>
              <a:t>📡 Hardware Agnostic</a:t>
            </a:r>
          </a:p>
          <a:p>
            <a:pPr>
              <a:defRPr sz="950">
                <a:solidFill>
                  <a:srgbClr val="F8FAFC"/>
                </a:solidFill>
              </a:defRPr>
            </a:pPr>
            <a:r>
              <a:t>Universal REST ingestion for GPS/RFID modems</a:t>
            </a:r>
          </a:p>
        </p:txBody>
      </p:sp>
      <p:sp>
        <p:nvSpPr>
          <p:cNvPr id="17" name="Rounded Rectangle 16"/>
          <p:cNvSpPr/>
          <p:nvPr/>
        </p:nvSpPr>
        <p:spPr>
          <a:xfrm>
            <a:off x="7918704" y="5120640"/>
            <a:ext cx="3383280" cy="1097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5212080"/>
            <a:ext cx="3108960" cy="914400"/>
          </a:xfrm>
          <a:prstGeom prst="rect">
            <a:avLst/>
          </a:prstGeom>
          <a:noFill/>
        </p:spPr>
        <p:txBody>
          <a:bodyPr wrap="square">
            <a:spAutoFit/>
          </a:bodyPr>
          <a:lstStyle/>
          <a:p>
            <a:pPr>
              <a:defRPr sz="1200" b="1">
                <a:solidFill>
                  <a:srgbClr val="0EA5E9"/>
                </a:solidFill>
              </a:defRPr>
            </a:pPr>
            <a:r>
              <a:t>🤖 Predictive ETA</a:t>
            </a:r>
          </a:p>
          <a:p>
            <a:pPr>
              <a:defRPr sz="950">
                <a:solidFill>
                  <a:srgbClr val="F8FAFC"/>
                </a:solidFill>
              </a:defRPr>
            </a:pPr>
            <a:r>
              <a:t>Machine learning stop arrival forecasting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3200400" cy="411480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5400" b="1">
                <a:solidFill>
                  <a:srgbClr val="0EA5E9"/>
                </a:solidFill>
              </a:defRPr>
            </a:pPr>
            <a:r>
              <a:t>02</a:t>
            </a:r>
          </a:p>
          <a:p>
            <a:pPr algn="ctr">
              <a:spcBef>
                <a:spcPts val="1400"/>
              </a:spcBef>
              <a:defRPr sz="1800" b="1">
                <a:solidFill>
                  <a:srgbClr val="F8FAFC"/>
                </a:solidFill>
              </a:defRPr>
            </a:pPr>
            <a:r>
              <a:t>STUDY OF THE</a:t>
            </a:r>
            <a:br/>
            <a:r>
              <a:t>EXISTING</a:t>
            </a:r>
          </a:p>
        </p:txBody>
      </p:sp>
      <p:sp>
        <p:nvSpPr>
          <p:cNvPr id="4" name="TextBox 3"/>
          <p:cNvSpPr txBox="1"/>
          <p:nvPr/>
        </p:nvSpPr>
        <p:spPr>
          <a:xfrm>
            <a:off x="4389120" y="1645920"/>
            <a:ext cx="6858000" cy="3657600"/>
          </a:xfrm>
          <a:prstGeom prst="rect">
            <a:avLst/>
          </a:prstGeom>
          <a:noFill/>
        </p:spPr>
        <p:txBody>
          <a:bodyPr wrap="square">
            <a:spAutoFit/>
          </a:bodyPr>
          <a:lstStyle/>
          <a:p>
            <a:pPr>
              <a:spcBef>
                <a:spcPts val="1600"/>
              </a:spcBef>
              <a:defRPr sz="1600" b="1">
                <a:solidFill>
                  <a:srgbClr val="0EA5E9"/>
                </a:solidFill>
              </a:defRPr>
            </a:pPr>
            <a:r>
              <a:t>1. The Traditional 'As-Is' Operational Workflow</a:t>
            </a:r>
          </a:p>
          <a:p>
            <a:pPr>
              <a:defRPr sz="1200">
                <a:solidFill>
                  <a:srgbClr val="94A3B8"/>
                </a:solidFill>
              </a:defRPr>
            </a:pPr>
            <a:r>
              <a:t>Manual dispatching, paper attendance sheets &amp; unmonitored routes.</a:t>
            </a:r>
          </a:p>
          <a:p>
            <a:pPr>
              <a:spcBef>
                <a:spcPts val="1600"/>
              </a:spcBef>
              <a:defRPr sz="1600" b="1">
                <a:solidFill>
                  <a:srgbClr val="0EA5E9"/>
                </a:solidFill>
              </a:defRPr>
            </a:pPr>
            <a:r>
              <a:t>2. Competitive Benchmark &amp; Market Alternatives</a:t>
            </a:r>
          </a:p>
          <a:p>
            <a:pPr>
              <a:defRPr sz="1200">
                <a:solidFill>
                  <a:srgbClr val="94A3B8"/>
                </a:solidFill>
              </a:defRPr>
            </a:pPr>
            <a:r>
              <a:t>Comparing standalone GPS trackers, factory timeclocks, and CST LePoint.</a:t>
            </a:r>
          </a:p>
          <a:p>
            <a:pPr>
              <a:spcBef>
                <a:spcPts val="1600"/>
              </a:spcBef>
              <a:defRPr sz="1600" b="1">
                <a:solidFill>
                  <a:srgbClr val="0EA5E9"/>
                </a:solidFill>
              </a:defRPr>
            </a:pPr>
            <a:r>
              <a:t>3. Problem Statement &amp; Critical Pain Points</a:t>
            </a:r>
          </a:p>
          <a:p>
            <a:pPr>
              <a:defRPr sz="1200">
                <a:solidFill>
                  <a:srgbClr val="94A3B8"/>
                </a:solidFill>
              </a:defRPr>
            </a:pPr>
            <a:r>
              <a:t>Quantifying the four major operational bottlenecks solved by our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02 | STUDY OF THE EXISTING</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The Traditional 'As-Is' Transit &amp; Attendance Process</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[5]</a:t>
            </a:r>
          </a:p>
        </p:txBody>
      </p:sp>
      <p:sp>
        <p:nvSpPr>
          <p:cNvPr id="7" name="Rounded Rectangle 6"/>
          <p:cNvSpPr/>
          <p:nvPr/>
        </p:nvSpPr>
        <p:spPr>
          <a:xfrm>
            <a:off x="731520" y="1463040"/>
            <a:ext cx="2514600" cy="29260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057400" cy="365760"/>
          </a:xfrm>
          <a:prstGeom prst="rect">
            <a:avLst/>
          </a:prstGeom>
          <a:noFill/>
        </p:spPr>
        <p:txBody>
          <a:bodyPr wrap="square">
            <a:spAutoFit/>
          </a:bodyPr>
          <a:lstStyle/>
          <a:p>
            <a:pPr>
              <a:defRPr sz="1400" b="1">
                <a:solidFill>
                  <a:srgbClr val="0EA5E9"/>
                </a:solidFill>
                <a:latin typeface="Arial"/>
              </a:defRPr>
            </a:pPr>
            <a:r>
              <a:t>1. DISPATCH</a:t>
            </a:r>
          </a:p>
        </p:txBody>
      </p:sp>
      <p:sp>
        <p:nvSpPr>
          <p:cNvPr id="9" name="TextBox 8"/>
          <p:cNvSpPr txBox="1"/>
          <p:nvPr/>
        </p:nvSpPr>
        <p:spPr>
          <a:xfrm>
            <a:off x="868680" y="2103120"/>
            <a:ext cx="2240280" cy="2103120"/>
          </a:xfrm>
          <a:prstGeom prst="rect">
            <a:avLst/>
          </a:prstGeom>
          <a:noFill/>
        </p:spPr>
        <p:txBody>
          <a:bodyPr wrap="square">
            <a:spAutoFit/>
          </a:bodyPr>
          <a:lstStyle/>
          <a:p>
            <a:pPr>
              <a:defRPr sz="1100">
                <a:solidFill>
                  <a:srgbClr val="F8FAFC"/>
                </a:solidFill>
              </a:defRPr>
            </a:pPr>
            <a:r>
              <a:t>Manual bus &amp; driver allocation via static schedules &amp; phone calls.</a:t>
            </a:r>
          </a:p>
        </p:txBody>
      </p:sp>
      <p:sp>
        <p:nvSpPr>
          <p:cNvPr id="10" name="Rounded Rectangle 9"/>
          <p:cNvSpPr/>
          <p:nvPr/>
        </p:nvSpPr>
        <p:spPr>
          <a:xfrm>
            <a:off x="3429000" y="1463040"/>
            <a:ext cx="2514600" cy="29260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45920"/>
            <a:ext cx="2057400" cy="365760"/>
          </a:xfrm>
          <a:prstGeom prst="rect">
            <a:avLst/>
          </a:prstGeom>
          <a:noFill/>
        </p:spPr>
        <p:txBody>
          <a:bodyPr wrap="square">
            <a:spAutoFit/>
          </a:bodyPr>
          <a:lstStyle/>
          <a:p>
            <a:pPr>
              <a:defRPr sz="1400" b="1">
                <a:solidFill>
                  <a:srgbClr val="0EA5E9"/>
                </a:solidFill>
                <a:latin typeface="Arial"/>
              </a:defRPr>
            </a:pPr>
            <a:r>
              <a:t>2. BOARDING</a:t>
            </a:r>
          </a:p>
        </p:txBody>
      </p:sp>
      <p:sp>
        <p:nvSpPr>
          <p:cNvPr id="12" name="TextBox 11"/>
          <p:cNvSpPr txBox="1"/>
          <p:nvPr/>
        </p:nvSpPr>
        <p:spPr>
          <a:xfrm>
            <a:off x="3566160" y="2103120"/>
            <a:ext cx="2240280" cy="2103120"/>
          </a:xfrm>
          <a:prstGeom prst="rect">
            <a:avLst/>
          </a:prstGeom>
          <a:noFill/>
        </p:spPr>
        <p:txBody>
          <a:bodyPr wrap="square">
            <a:spAutoFit/>
          </a:bodyPr>
          <a:lstStyle/>
          <a:p>
            <a:pPr>
              <a:defRPr sz="1100">
                <a:solidFill>
                  <a:srgbClr val="F8FAFC"/>
                </a:solidFill>
              </a:defRPr>
            </a:pPr>
            <a:r>
              <a:t>Driver manually ticks names on paper sheets while driving.</a:t>
            </a:r>
          </a:p>
        </p:txBody>
      </p:sp>
      <p:sp>
        <p:nvSpPr>
          <p:cNvPr id="13" name="Rounded Rectangle 12"/>
          <p:cNvSpPr/>
          <p:nvPr/>
        </p:nvSpPr>
        <p:spPr>
          <a:xfrm>
            <a:off x="6126480" y="1463040"/>
            <a:ext cx="2514600" cy="29260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645920"/>
            <a:ext cx="2057400" cy="365760"/>
          </a:xfrm>
          <a:prstGeom prst="rect">
            <a:avLst/>
          </a:prstGeom>
          <a:noFill/>
        </p:spPr>
        <p:txBody>
          <a:bodyPr wrap="square">
            <a:spAutoFit/>
          </a:bodyPr>
          <a:lstStyle/>
          <a:p>
            <a:pPr>
              <a:defRPr sz="1400" b="1">
                <a:solidFill>
                  <a:srgbClr val="0EA5E9"/>
                </a:solidFill>
                <a:latin typeface="Arial"/>
              </a:defRPr>
            </a:pPr>
            <a:r>
              <a:t>3. TRANSIT</a:t>
            </a:r>
          </a:p>
        </p:txBody>
      </p:sp>
      <p:sp>
        <p:nvSpPr>
          <p:cNvPr id="15" name="TextBox 14"/>
          <p:cNvSpPr txBox="1"/>
          <p:nvPr/>
        </p:nvSpPr>
        <p:spPr>
          <a:xfrm>
            <a:off x="6263640" y="2103120"/>
            <a:ext cx="2240280" cy="2103120"/>
          </a:xfrm>
          <a:prstGeom prst="rect">
            <a:avLst/>
          </a:prstGeom>
          <a:noFill/>
        </p:spPr>
        <p:txBody>
          <a:bodyPr wrap="square">
            <a:spAutoFit/>
          </a:bodyPr>
          <a:lstStyle/>
          <a:p>
            <a:pPr>
              <a:defRPr sz="1100">
                <a:solidFill>
                  <a:srgbClr val="F8FAFC"/>
                </a:solidFill>
              </a:defRPr>
            </a:pPr>
            <a:r>
              <a:t>Blind route transit; dispatchers have zero live location visibility.</a:t>
            </a:r>
          </a:p>
        </p:txBody>
      </p:sp>
      <p:sp>
        <p:nvSpPr>
          <p:cNvPr id="16" name="Rounded Rectangle 15"/>
          <p:cNvSpPr/>
          <p:nvPr/>
        </p:nvSpPr>
        <p:spPr>
          <a:xfrm>
            <a:off x="8823960" y="1463040"/>
            <a:ext cx="251460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1645920"/>
            <a:ext cx="2057400" cy="365760"/>
          </a:xfrm>
          <a:prstGeom prst="rect">
            <a:avLst/>
          </a:prstGeom>
          <a:noFill/>
        </p:spPr>
        <p:txBody>
          <a:bodyPr wrap="square">
            <a:spAutoFit/>
          </a:bodyPr>
          <a:lstStyle/>
          <a:p>
            <a:pPr>
              <a:defRPr sz="1400" b="1">
                <a:solidFill>
                  <a:srgbClr val="0EA5E9"/>
                </a:solidFill>
                <a:latin typeface="Arial"/>
              </a:defRPr>
            </a:pPr>
            <a:r>
              <a:t>4. AUDITING</a:t>
            </a:r>
          </a:p>
        </p:txBody>
      </p:sp>
      <p:sp>
        <p:nvSpPr>
          <p:cNvPr id="18" name="TextBox 17"/>
          <p:cNvSpPr txBox="1"/>
          <p:nvPr/>
        </p:nvSpPr>
        <p:spPr>
          <a:xfrm>
            <a:off x="8961120" y="2103120"/>
            <a:ext cx="2240280" cy="2103120"/>
          </a:xfrm>
          <a:prstGeom prst="rect">
            <a:avLst/>
          </a:prstGeom>
          <a:noFill/>
        </p:spPr>
        <p:txBody>
          <a:bodyPr wrap="square">
            <a:spAutoFit/>
          </a:bodyPr>
          <a:lstStyle/>
          <a:p>
            <a:pPr>
              <a:defRPr sz="1100">
                <a:solidFill>
                  <a:srgbClr val="F8FAFC"/>
                </a:solidFill>
              </a:defRPr>
            </a:pPr>
            <a:r>
              <a:t>Paper sheets gathered weekly &amp; keyed into Excel for billing.</a:t>
            </a:r>
          </a:p>
        </p:txBody>
      </p:sp>
      <p:sp>
        <p:nvSpPr>
          <p:cNvPr id="19" name="Rounded Rectangle 18"/>
          <p:cNvSpPr/>
          <p:nvPr/>
        </p:nvSpPr>
        <p:spPr>
          <a:xfrm>
            <a:off x="731520" y="4663440"/>
            <a:ext cx="10698480" cy="15544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846320"/>
            <a:ext cx="10241280" cy="365760"/>
          </a:xfrm>
          <a:prstGeom prst="rect">
            <a:avLst/>
          </a:prstGeom>
          <a:noFill/>
        </p:spPr>
        <p:txBody>
          <a:bodyPr wrap="square">
            <a:spAutoFit/>
          </a:bodyPr>
          <a:lstStyle/>
          <a:p>
            <a:pPr>
              <a:defRPr sz="1400" b="1">
                <a:solidFill>
                  <a:srgbClr val="0EA5E9"/>
                </a:solidFill>
                <a:latin typeface="Arial"/>
              </a:defRPr>
            </a:pPr>
            <a:r>
              <a:t>⚠️ Critical Operational Inefficiencies in Legacy Workflow</a:t>
            </a:r>
          </a:p>
        </p:txBody>
      </p:sp>
      <p:sp>
        <p:nvSpPr>
          <p:cNvPr id="21" name="TextBox 20"/>
          <p:cNvSpPr txBox="1"/>
          <p:nvPr/>
        </p:nvSpPr>
        <p:spPr>
          <a:xfrm>
            <a:off x="960120" y="5120640"/>
            <a:ext cx="10241280" cy="1005840"/>
          </a:xfrm>
          <a:prstGeom prst="rect">
            <a:avLst/>
          </a:prstGeom>
          <a:noFill/>
        </p:spPr>
        <p:txBody>
          <a:bodyPr wrap="square">
            <a:spAutoFit/>
          </a:bodyPr>
          <a:lstStyle/>
          <a:p>
            <a:pPr>
              <a:spcBef>
                <a:spcPts val="300"/>
              </a:spcBef>
              <a:defRPr sz="1050">
                <a:solidFill>
                  <a:srgbClr val="F8FAFC"/>
                </a:solidFill>
              </a:defRPr>
            </a:pPr>
            <a:r>
              <a:t>• High Latency: 24 to 48 hours delay before management identifies attendance discrepancies or unauthorized detours.</a:t>
            </a:r>
          </a:p>
          <a:p>
            <a:pPr>
              <a:spcBef>
                <a:spcPts val="300"/>
              </a:spcBef>
              <a:defRPr sz="1050">
                <a:solidFill>
                  <a:srgbClr val="F8FAFC"/>
                </a:solidFill>
              </a:defRPr>
            </a:pPr>
            <a:r>
              <a:t>• Human Error &amp; Fraud: Illegible signatures, lost paper registers, and untracked passenger headcounts.</a:t>
            </a:r>
          </a:p>
          <a:p>
            <a:pPr>
              <a:spcBef>
                <a:spcPts val="300"/>
              </a:spcBef>
              <a:defRPr sz="1050">
                <a:solidFill>
                  <a:srgbClr val="F8FAFC"/>
                </a:solidFill>
              </a:defRPr>
            </a:pPr>
            <a:r>
              <a:t>• Operational Blindness: Inability to respond immediately to breakdowns, accidents, or delayed factory shifts.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02 | STUDY OF THE EXISTING</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Market Benchmark: Generic Telematics vs. CST LePoint</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[6]</a:t>
            </a:r>
          </a:p>
        </p:txBody>
      </p:sp>
      <p:graphicFrame>
        <p:nvGraphicFramePr>
          <p:cNvPr id="7" name="Table 6"/>
          <p:cNvGraphicFramePr>
            <a:graphicFrameLocks noGrp="1"/>
          </p:cNvGraphicFramePr>
          <p:nvPr/>
        </p:nvGraphicFramePr>
        <p:xfrm>
          <a:off x="731520" y="1463040"/>
          <a:ext cx="10698480" cy="3931920"/>
        </p:xfrm>
        <a:graphic>
          <a:graphicData uri="http://schemas.openxmlformats.org/drawingml/2006/table">
            <a:tbl>
              <a:tblPr firstRow="1" bandRow="1">
                <a:tableStyleId>{5C22544A-7EE6-4342-B048-85BDC9FD1C3A}</a:tableStyleId>
              </a:tblPr>
              <a:tblGrid>
                <a:gridCol w="3200400"/>
                <a:gridCol w="2377440"/>
                <a:gridCol w="2377440"/>
                <a:gridCol w="2743200"/>
              </a:tblGrid>
              <a:tr h="655320">
                <a:tc>
                  <a:txBody>
                    <a:bodyPr/>
                    <a:lstStyle/>
                    <a:p>
                      <a:pPr algn="l">
                        <a:defRPr b="1" sz="1200">
                          <a:solidFill>
                            <a:srgbClr val="0EA5E9"/>
                          </a:solidFill>
                        </a:defRPr>
                      </a:pPr>
                      <a:r>
                        <a:t>Capability / Feature</a:t>
                      </a:r>
                    </a:p>
                  </a:txBody>
                  <a:tcPr>
                    <a:solidFill>
                      <a:srgbClr val="1E293B"/>
                    </a:solidFill>
                  </a:tcPr>
                </a:tc>
                <a:tc>
                  <a:txBody>
                    <a:bodyPr/>
                    <a:lstStyle/>
                    <a:p>
                      <a:pPr algn="ctr">
                        <a:defRPr b="1" sz="1200">
                          <a:solidFill>
                            <a:srgbClr val="0EA5E9"/>
                          </a:solidFill>
                        </a:defRPr>
                      </a:pPr>
                      <a:r>
                        <a:t>Generic GPS Trackers</a:t>
                      </a:r>
                    </a:p>
                  </a:txBody>
                  <a:tcPr>
                    <a:solidFill>
                      <a:srgbClr val="1E293B"/>
                    </a:solidFill>
                  </a:tcPr>
                </a:tc>
                <a:tc>
                  <a:txBody>
                    <a:bodyPr/>
                    <a:lstStyle/>
                    <a:p>
                      <a:pPr algn="ctr">
                        <a:defRPr b="1" sz="1200">
                          <a:solidFill>
                            <a:srgbClr val="0EA5E9"/>
                          </a:solidFill>
                        </a:defRPr>
                      </a:pPr>
                      <a:r>
                        <a:t>Factory Door Timeclocks</a:t>
                      </a:r>
                    </a:p>
                  </a:txBody>
                  <a:tcPr>
                    <a:solidFill>
                      <a:srgbClr val="1E293B"/>
                    </a:solidFill>
                  </a:tcPr>
                </a:tc>
                <a:tc>
                  <a:txBody>
                    <a:bodyPr/>
                    <a:lstStyle/>
                    <a:p>
                      <a:pPr algn="ctr">
                        <a:defRPr b="1" sz="1200">
                          <a:solidFill>
                            <a:srgbClr val="0EA5E9"/>
                          </a:solidFill>
                        </a:defRPr>
                      </a:pPr>
                      <a:r>
                        <a:t>CST LePoint (Our Platform)</a:t>
                      </a:r>
                    </a:p>
                  </a:txBody>
                  <a:tcPr>
                    <a:solidFill>
                      <a:srgbClr val="1E293B"/>
                    </a:solidFill>
                  </a:tcPr>
                </a:tc>
              </a:tr>
              <a:tr h="655320">
                <a:tc>
                  <a:txBody>
                    <a:bodyPr/>
                    <a:lstStyle/>
                    <a:p>
                      <a:pPr algn="l">
                        <a:defRPr sz="1100">
                          <a:solidFill>
                            <a:srgbClr val="F8FAFC"/>
                          </a:solidFill>
                        </a:defRPr>
                      </a:pPr>
                      <a:r>
                        <a:t>Real-Time Vehicular GPS Tracking</a:t>
                      </a:r>
                    </a:p>
                  </a:txBody>
                  <a:tcPr>
                    <a:solidFill>
                      <a:srgbClr val="1E293B"/>
                    </a:solidFill>
                  </a:tcPr>
                </a:tc>
                <a:tc>
                  <a:txBody>
                    <a:bodyPr/>
                    <a:lstStyle/>
                    <a:p>
                      <a:pPr algn="ctr">
                        <a:defRPr sz="1100">
                          <a:solidFill>
                            <a:srgbClr val="F8FAFC"/>
                          </a:solidFill>
                        </a:defRPr>
                      </a:pPr>
                      <a:r>
                        <a:t>✅ Supported</a:t>
                      </a:r>
                    </a:p>
                  </a:txBody>
                  <a:tcPr>
                    <a:solidFill>
                      <a:srgbClr val="1E293B"/>
                    </a:solidFill>
                  </a:tcPr>
                </a:tc>
                <a:tc>
                  <a:txBody>
                    <a:bodyPr/>
                    <a:lstStyle/>
                    <a:p>
                      <a:pPr algn="ctr">
                        <a:defRPr sz="1100">
                          <a:solidFill>
                            <a:srgbClr val="EF4444"/>
                          </a:solidFill>
                        </a:defRPr>
                      </a:pPr>
                      <a:r>
                        <a:t>❌ Not Supported</a:t>
                      </a:r>
                    </a:p>
                  </a:txBody>
                  <a:tcPr>
                    <a:solidFill>
                      <a:srgbClr val="1E293B"/>
                    </a:solidFill>
                  </a:tcPr>
                </a:tc>
                <a:tc>
                  <a:txBody>
                    <a:bodyPr/>
                    <a:lstStyle/>
                    <a:p>
                      <a:pPr algn="ctr">
                        <a:defRPr sz="1100" b="1">
                          <a:solidFill>
                            <a:srgbClr val="10B981"/>
                          </a:solidFill>
                        </a:defRPr>
                      </a:pPr>
                      <a:r>
                        <a:t>✅ Native Sub-second Ingest</a:t>
                      </a:r>
                    </a:p>
                  </a:txBody>
                  <a:tcPr>
                    <a:solidFill>
                      <a:srgbClr val="1E293B"/>
                    </a:solidFill>
                  </a:tcPr>
                </a:tc>
              </a:tr>
              <a:tr h="655320">
                <a:tc>
                  <a:txBody>
                    <a:bodyPr/>
                    <a:lstStyle/>
                    <a:p>
                      <a:pPr algn="l">
                        <a:defRPr sz="1100">
                          <a:solidFill>
                            <a:srgbClr val="F8FAFC"/>
                          </a:solidFill>
                        </a:defRPr>
                      </a:pPr>
                      <a:r>
                        <a:t>Onboard RFID Passenger Pointage</a:t>
                      </a:r>
                    </a:p>
                  </a:txBody>
                  <a:tcPr>
                    <a:solidFill>
                      <a:srgbClr val="121A2B"/>
                    </a:solidFill>
                  </a:tcPr>
                </a:tc>
                <a:tc>
                  <a:txBody>
                    <a:bodyPr/>
                    <a:lstStyle/>
                    <a:p>
                      <a:pPr algn="ctr">
                        <a:defRPr sz="1100">
                          <a:solidFill>
                            <a:srgbClr val="EF4444"/>
                          </a:solidFill>
                        </a:defRPr>
                      </a:pPr>
                      <a:r>
                        <a:t>❌ Not Available</a:t>
                      </a:r>
                    </a:p>
                  </a:txBody>
                  <a:tcPr>
                    <a:solidFill>
                      <a:srgbClr val="121A2B"/>
                    </a:solidFill>
                  </a:tcPr>
                </a:tc>
                <a:tc>
                  <a:txBody>
                    <a:bodyPr/>
                    <a:lstStyle/>
                    <a:p>
                      <a:pPr algn="ctr">
                        <a:defRPr sz="1100">
                          <a:solidFill>
                            <a:srgbClr val="F59E0B"/>
                          </a:solidFill>
                        </a:defRPr>
                      </a:pPr>
                      <a:r>
                        <a:t>⚠️ Fixed at Gate Only</a:t>
                      </a:r>
                    </a:p>
                  </a:txBody>
                  <a:tcPr>
                    <a:solidFill>
                      <a:srgbClr val="121A2B"/>
                    </a:solidFill>
                  </a:tcPr>
                </a:tc>
                <a:tc>
                  <a:txBody>
                    <a:bodyPr/>
                    <a:lstStyle/>
                    <a:p>
                      <a:pPr algn="ctr">
                        <a:defRPr sz="1100" b="1">
                          <a:solidFill>
                            <a:srgbClr val="10B981"/>
                          </a:solidFill>
                        </a:defRPr>
                      </a:pPr>
                      <a:r>
                        <a:t>✅ Mobile Boarding Scan</a:t>
                      </a:r>
                    </a:p>
                  </a:txBody>
                  <a:tcPr>
                    <a:solidFill>
                      <a:srgbClr val="121A2B"/>
                    </a:solidFill>
                  </a:tcPr>
                </a:tc>
              </a:tr>
              <a:tr h="655320">
                <a:tc>
                  <a:txBody>
                    <a:bodyPr/>
                    <a:lstStyle/>
                    <a:p>
                      <a:pPr algn="l">
                        <a:defRPr sz="1100">
                          <a:solidFill>
                            <a:srgbClr val="F8FAFC"/>
                          </a:solidFill>
                        </a:defRPr>
                      </a:pPr>
                      <a:r>
                        <a:t>Multi-Tenant SaaS Data Isolation</a:t>
                      </a:r>
                    </a:p>
                  </a:txBody>
                  <a:tcPr>
                    <a:solidFill>
                      <a:srgbClr val="1E293B"/>
                    </a:solidFill>
                  </a:tcPr>
                </a:tc>
                <a:tc>
                  <a:txBody>
                    <a:bodyPr/>
                    <a:lstStyle/>
                    <a:p>
                      <a:pPr algn="ctr">
                        <a:defRPr sz="1100">
                          <a:solidFill>
                            <a:srgbClr val="F59E0B"/>
                          </a:solidFill>
                        </a:defRPr>
                      </a:pPr>
                      <a:r>
                        <a:t>⚠️ Basic / Single-Tenant</a:t>
                      </a:r>
                    </a:p>
                  </a:txBody>
                  <a:tcPr>
                    <a:solidFill>
                      <a:srgbClr val="1E293B"/>
                    </a:solidFill>
                  </a:tcPr>
                </a:tc>
                <a:tc>
                  <a:txBody>
                    <a:bodyPr/>
                    <a:lstStyle/>
                    <a:p>
                      <a:pPr algn="ctr">
                        <a:defRPr sz="1100">
                          <a:solidFill>
                            <a:srgbClr val="EF4444"/>
                          </a:solidFill>
                        </a:defRPr>
                      </a:pPr>
                      <a:r>
                        <a:t>❌ Internal On-Premise</a:t>
                      </a:r>
                    </a:p>
                  </a:txBody>
                  <a:tcPr>
                    <a:solidFill>
                      <a:srgbClr val="1E293B"/>
                    </a:solidFill>
                  </a:tcPr>
                </a:tc>
                <a:tc>
                  <a:txBody>
                    <a:bodyPr/>
                    <a:lstStyle/>
                    <a:p>
                      <a:pPr algn="ctr">
                        <a:defRPr sz="1100" b="1">
                          <a:solidFill>
                            <a:srgbClr val="10B981"/>
                          </a:solidFill>
                        </a:defRPr>
                      </a:pPr>
                      <a:r>
                        <a:t>✅ Multi-Tenant (SocieteId)</a:t>
                      </a:r>
                    </a:p>
                  </a:txBody>
                  <a:tcPr>
                    <a:solidFill>
                      <a:srgbClr val="1E293B"/>
                    </a:solidFill>
                  </a:tcPr>
                </a:tc>
              </a:tr>
              <a:tr h="655320">
                <a:tc>
                  <a:txBody>
                    <a:bodyPr/>
                    <a:lstStyle/>
                    <a:p>
                      <a:pPr algn="l">
                        <a:defRPr sz="1100">
                          <a:solidFill>
                            <a:srgbClr val="F8FAFC"/>
                          </a:solidFill>
                        </a:defRPr>
                      </a:pPr>
                      <a:r>
                        <a:t>250m Automated Geofence Alert</a:t>
                      </a:r>
                    </a:p>
                  </a:txBody>
                  <a:tcPr>
                    <a:solidFill>
                      <a:srgbClr val="121A2B"/>
                    </a:solidFill>
                  </a:tcPr>
                </a:tc>
                <a:tc>
                  <a:txBody>
                    <a:bodyPr/>
                    <a:lstStyle/>
                    <a:p>
                      <a:pPr algn="ctr">
                        <a:defRPr sz="1100">
                          <a:solidFill>
                            <a:srgbClr val="EF4444"/>
                          </a:solidFill>
                        </a:defRPr>
                      </a:pPr>
                      <a:r>
                        <a:t>❌ No Route Awareness</a:t>
                      </a:r>
                    </a:p>
                  </a:txBody>
                  <a:tcPr>
                    <a:solidFill>
                      <a:srgbClr val="121A2B"/>
                    </a:solidFill>
                  </a:tcPr>
                </a:tc>
                <a:tc>
                  <a:txBody>
                    <a:bodyPr/>
                    <a:lstStyle/>
                    <a:p>
                      <a:pPr algn="ctr">
                        <a:defRPr sz="1100">
                          <a:solidFill>
                            <a:srgbClr val="EF4444"/>
                          </a:solidFill>
                        </a:defRPr>
                      </a:pPr>
                      <a:r>
                        <a:t>❌ Not Supported</a:t>
                      </a:r>
                    </a:p>
                  </a:txBody>
                  <a:tcPr>
                    <a:solidFill>
                      <a:srgbClr val="121A2B"/>
                    </a:solidFill>
                  </a:tcPr>
                </a:tc>
                <a:tc>
                  <a:txBody>
                    <a:bodyPr/>
                    <a:lstStyle/>
                    <a:p>
                      <a:pPr algn="ctr">
                        <a:defRPr sz="1100" b="1">
                          <a:solidFill>
                            <a:srgbClr val="10B981"/>
                          </a:solidFill>
                        </a:defRPr>
                      </a:pPr>
                      <a:r>
                        <a:t>✅ Automated Detour Alert</a:t>
                      </a:r>
                    </a:p>
                  </a:txBody>
                  <a:tcPr>
                    <a:solidFill>
                      <a:srgbClr val="121A2B"/>
                    </a:solidFill>
                  </a:tcPr>
                </a:tc>
              </a:tr>
              <a:tr h="655320">
                <a:tc>
                  <a:txBody>
                    <a:bodyPr/>
                    <a:lstStyle/>
                    <a:p>
                      <a:pPr algn="l">
                        <a:defRPr sz="1100">
                          <a:solidFill>
                            <a:srgbClr val="F8FAFC"/>
                          </a:solidFill>
                        </a:defRPr>
                      </a:pPr>
                      <a:r>
                        <a:t>Predictive Machine Learning ETA</a:t>
                      </a:r>
                    </a:p>
                  </a:txBody>
                  <a:tcPr>
                    <a:solidFill>
                      <a:srgbClr val="1E293B"/>
                    </a:solidFill>
                  </a:tcPr>
                </a:tc>
                <a:tc>
                  <a:txBody>
                    <a:bodyPr/>
                    <a:lstStyle/>
                    <a:p>
                      <a:pPr algn="ctr">
                        <a:defRPr sz="1100">
                          <a:solidFill>
                            <a:srgbClr val="EF4444"/>
                          </a:solidFill>
                        </a:defRPr>
                      </a:pPr>
                      <a:r>
                        <a:t>❌ Static Distance Only</a:t>
                      </a:r>
                    </a:p>
                  </a:txBody>
                  <a:tcPr>
                    <a:solidFill>
                      <a:srgbClr val="1E293B"/>
                    </a:solidFill>
                  </a:tcPr>
                </a:tc>
                <a:tc>
                  <a:txBody>
                    <a:bodyPr/>
                    <a:lstStyle/>
                    <a:p>
                      <a:pPr algn="ctr">
                        <a:defRPr sz="1100">
                          <a:solidFill>
                            <a:srgbClr val="EF4444"/>
                          </a:solidFill>
                        </a:defRPr>
                      </a:pPr>
                      <a:r>
                        <a:t>❌ Not Supported</a:t>
                      </a:r>
                    </a:p>
                  </a:txBody>
                  <a:tcPr>
                    <a:solidFill>
                      <a:srgbClr val="1E293B"/>
                    </a:solidFill>
                  </a:tcPr>
                </a:tc>
                <a:tc>
                  <a:txBody>
                    <a:bodyPr/>
                    <a:lstStyle/>
                    <a:p>
                      <a:pPr algn="ctr">
                        <a:defRPr sz="1100" b="1">
                          <a:solidFill>
                            <a:srgbClr val="10B981"/>
                          </a:solidFill>
                        </a:defRPr>
                      </a:pPr>
                      <a:r>
                        <a:t>✅ LightGBM ML Model</a:t>
                      </a:r>
                    </a:p>
                  </a:txBody>
                  <a:tcPr>
                    <a:solidFill>
                      <a:srgbClr val="1E293B"/>
                    </a:solidFill>
                  </a:tcPr>
                </a:tc>
              </a:tr>
            </a:tbl>
          </a:graphicData>
        </a:graphic>
      </p:graphicFrame>
      <p:sp>
        <p:nvSpPr>
          <p:cNvPr id="8" name="TextBox 7"/>
          <p:cNvSpPr txBox="1"/>
          <p:nvPr/>
        </p:nvSpPr>
        <p:spPr>
          <a:xfrm>
            <a:off x="731520" y="5577840"/>
            <a:ext cx="10698480" cy="731520"/>
          </a:xfrm>
          <a:prstGeom prst="rect">
            <a:avLst/>
          </a:prstGeom>
          <a:noFill/>
        </p:spPr>
        <p:txBody>
          <a:bodyPr wrap="none">
            <a:spAutoFit/>
          </a:bodyPr>
          <a:lstStyle/>
          <a:p>
            <a:pPr>
              <a:defRPr sz="1100" b="1">
                <a:solidFill>
                  <a:srgbClr val="BAE6FD"/>
                </a:solidFill>
              </a:defRPr>
            </a:pPr>
            <a:r>
              <a:t>💡 Key Finding: Existing market tools operate in isolated silos; CST LePoint is the first unified SaaS suite merging high-throughput GPS tracking, mobile RFID pointage, and machine learning arrival forecasts.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02 | STUDY OF THE EXISTING</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Problem Statement: Four Critical Operational Challenges</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[7]</a:t>
            </a:r>
          </a:p>
        </p:txBody>
      </p:sp>
      <p:sp>
        <p:nvSpPr>
          <p:cNvPr id="7" name="Rounded Rectangle 6"/>
          <p:cNvSpPr/>
          <p:nvPr/>
        </p:nvSpPr>
        <p:spPr>
          <a:xfrm>
            <a:off x="731520" y="1463040"/>
            <a:ext cx="5120640" cy="21031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663440" cy="365760"/>
          </a:xfrm>
          <a:prstGeom prst="rect">
            <a:avLst/>
          </a:prstGeom>
          <a:noFill/>
        </p:spPr>
        <p:txBody>
          <a:bodyPr wrap="square">
            <a:spAutoFit/>
          </a:bodyPr>
          <a:lstStyle/>
          <a:p>
            <a:pPr>
              <a:defRPr sz="1400" b="1">
                <a:solidFill>
                  <a:srgbClr val="0EA5E9"/>
                </a:solidFill>
                <a:latin typeface="Arial"/>
              </a:defRPr>
            </a:pPr>
            <a:r>
              <a:t>1. ZERO REAL-TIME VISIBILITY</a:t>
            </a:r>
          </a:p>
        </p:txBody>
      </p:sp>
      <p:sp>
        <p:nvSpPr>
          <p:cNvPr id="9" name="TextBox 8"/>
          <p:cNvSpPr txBox="1"/>
          <p:nvPr/>
        </p:nvSpPr>
        <p:spPr>
          <a:xfrm>
            <a:off x="960120" y="2057400"/>
            <a:ext cx="4663440" cy="1371600"/>
          </a:xfrm>
          <a:prstGeom prst="rect">
            <a:avLst/>
          </a:prstGeom>
          <a:noFill/>
        </p:spPr>
        <p:txBody>
          <a:bodyPr wrap="square">
            <a:spAutoFit/>
          </a:bodyPr>
          <a:lstStyle/>
          <a:p>
            <a:pPr>
              <a:spcBef>
                <a:spcPts val="300"/>
              </a:spcBef>
              <a:defRPr sz="1100">
                <a:solidFill>
                  <a:srgbClr val="F8FAFC"/>
                </a:solidFill>
              </a:defRPr>
            </a:pPr>
            <a:r>
              <a:t>• No live vehicular location tracking.</a:t>
            </a:r>
          </a:p>
          <a:p>
            <a:pPr>
              <a:spcBef>
                <a:spcPts val="300"/>
              </a:spcBef>
              <a:defRPr sz="1100">
                <a:solidFill>
                  <a:srgbClr val="F8FAFC"/>
                </a:solidFill>
              </a:defRPr>
            </a:pPr>
            <a:r>
              <a:t>• Unknown onboard passenger count.</a:t>
            </a:r>
          </a:p>
          <a:p>
            <a:pPr>
              <a:spcBef>
                <a:spcPts val="300"/>
              </a:spcBef>
              <a:defRPr sz="1100">
                <a:solidFill>
                  <a:srgbClr val="F8FAFC"/>
                </a:solidFill>
              </a:defRPr>
            </a:pPr>
            <a:r>
              <a:t>• Delayed incident &amp; breakdown responses.</a:t>
            </a:r>
          </a:p>
        </p:txBody>
      </p:sp>
      <p:sp>
        <p:nvSpPr>
          <p:cNvPr id="10" name="Rounded Rectangle 9"/>
          <p:cNvSpPr/>
          <p:nvPr/>
        </p:nvSpPr>
        <p:spPr>
          <a:xfrm>
            <a:off x="6126480" y="1463040"/>
            <a:ext cx="5120640" cy="2103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4663440" cy="365760"/>
          </a:xfrm>
          <a:prstGeom prst="rect">
            <a:avLst/>
          </a:prstGeom>
          <a:noFill/>
        </p:spPr>
        <p:txBody>
          <a:bodyPr wrap="square">
            <a:spAutoFit/>
          </a:bodyPr>
          <a:lstStyle/>
          <a:p>
            <a:pPr>
              <a:defRPr sz="1400" b="1">
                <a:solidFill>
                  <a:srgbClr val="0EA5E9"/>
                </a:solidFill>
                <a:latin typeface="Arial"/>
              </a:defRPr>
            </a:pPr>
            <a:r>
              <a:t>2. UNMONITORED ROUTE DETOURS</a:t>
            </a:r>
          </a:p>
        </p:txBody>
      </p:sp>
      <p:sp>
        <p:nvSpPr>
          <p:cNvPr id="12" name="TextBox 11"/>
          <p:cNvSpPr txBox="1"/>
          <p:nvPr/>
        </p:nvSpPr>
        <p:spPr>
          <a:xfrm>
            <a:off x="6355080" y="2057400"/>
            <a:ext cx="4663440" cy="1371600"/>
          </a:xfrm>
          <a:prstGeom prst="rect">
            <a:avLst/>
          </a:prstGeom>
          <a:noFill/>
        </p:spPr>
        <p:txBody>
          <a:bodyPr wrap="square">
            <a:spAutoFit/>
          </a:bodyPr>
          <a:lstStyle/>
          <a:p>
            <a:pPr>
              <a:spcBef>
                <a:spcPts val="300"/>
              </a:spcBef>
              <a:defRPr sz="1100">
                <a:solidFill>
                  <a:srgbClr val="F8FAFC"/>
                </a:solidFill>
              </a:defRPr>
            </a:pPr>
            <a:r>
              <a:t>• Unauthorized detours causing fuel waste.</a:t>
            </a:r>
          </a:p>
          <a:p>
            <a:pPr>
              <a:spcBef>
                <a:spcPts val="300"/>
              </a:spcBef>
              <a:defRPr sz="1100">
                <a:solidFill>
                  <a:srgbClr val="F8FAFC"/>
                </a:solidFill>
              </a:defRPr>
            </a:pPr>
            <a:r>
              <a:t>• Missed worker pickup checkpoints.</a:t>
            </a:r>
          </a:p>
          <a:p>
            <a:pPr>
              <a:spcBef>
                <a:spcPts val="300"/>
              </a:spcBef>
              <a:defRPr sz="1100">
                <a:solidFill>
                  <a:srgbClr val="F8FAFC"/>
                </a:solidFill>
              </a:defRPr>
            </a:pPr>
            <a:r>
              <a:t>• Zero real-time route compliance auditing.</a:t>
            </a:r>
          </a:p>
        </p:txBody>
      </p:sp>
      <p:sp>
        <p:nvSpPr>
          <p:cNvPr id="13" name="Rounded Rectangle 12"/>
          <p:cNvSpPr/>
          <p:nvPr/>
        </p:nvSpPr>
        <p:spPr>
          <a:xfrm>
            <a:off x="731520" y="3749039"/>
            <a:ext cx="5120640" cy="2103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931920"/>
            <a:ext cx="4663440" cy="365760"/>
          </a:xfrm>
          <a:prstGeom prst="rect">
            <a:avLst/>
          </a:prstGeom>
          <a:noFill/>
        </p:spPr>
        <p:txBody>
          <a:bodyPr wrap="square">
            <a:spAutoFit/>
          </a:bodyPr>
          <a:lstStyle/>
          <a:p>
            <a:pPr>
              <a:defRPr sz="1400" b="1">
                <a:solidFill>
                  <a:srgbClr val="0EA5E9"/>
                </a:solidFill>
                <a:latin typeface="Arial"/>
              </a:defRPr>
            </a:pPr>
            <a:r>
              <a:t>3. PASSENGER ETA UNCERTAINTY</a:t>
            </a:r>
          </a:p>
        </p:txBody>
      </p:sp>
      <p:sp>
        <p:nvSpPr>
          <p:cNvPr id="15" name="TextBox 14"/>
          <p:cNvSpPr txBox="1"/>
          <p:nvPr/>
        </p:nvSpPr>
        <p:spPr>
          <a:xfrm>
            <a:off x="960120" y="4343400"/>
            <a:ext cx="4663440" cy="1371600"/>
          </a:xfrm>
          <a:prstGeom prst="rect">
            <a:avLst/>
          </a:prstGeom>
          <a:noFill/>
        </p:spPr>
        <p:txBody>
          <a:bodyPr wrap="square">
            <a:spAutoFit/>
          </a:bodyPr>
          <a:lstStyle/>
          <a:p>
            <a:pPr>
              <a:spcBef>
                <a:spcPts val="300"/>
              </a:spcBef>
              <a:defRPr sz="1100">
                <a:solidFill>
                  <a:srgbClr val="F8FAFC"/>
                </a:solidFill>
              </a:defRPr>
            </a:pPr>
            <a:r>
              <a:t>• Workers wait blindly at stops without ETA.</a:t>
            </a:r>
          </a:p>
          <a:p>
            <a:pPr>
              <a:spcBef>
                <a:spcPts val="300"/>
              </a:spcBef>
              <a:defRPr sz="1100">
                <a:solidFill>
                  <a:srgbClr val="F8FAFC"/>
                </a:solidFill>
              </a:defRPr>
            </a:pPr>
            <a:r>
              <a:t>• Late arrivals halt factory assembly lines.</a:t>
            </a:r>
          </a:p>
          <a:p>
            <a:pPr>
              <a:spcBef>
                <a:spcPts val="300"/>
              </a:spcBef>
              <a:defRPr sz="1100">
                <a:solidFill>
                  <a:srgbClr val="F8FAFC"/>
                </a:solidFill>
              </a:defRPr>
            </a:pPr>
            <a:r>
              <a:t>• No early warning mechanism for shift delays.</a:t>
            </a:r>
          </a:p>
        </p:txBody>
      </p:sp>
      <p:sp>
        <p:nvSpPr>
          <p:cNvPr id="16" name="Rounded Rectangle 15"/>
          <p:cNvSpPr/>
          <p:nvPr/>
        </p:nvSpPr>
        <p:spPr>
          <a:xfrm>
            <a:off x="6126480" y="3749039"/>
            <a:ext cx="5120640" cy="2103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931920"/>
            <a:ext cx="4663440" cy="365760"/>
          </a:xfrm>
          <a:prstGeom prst="rect">
            <a:avLst/>
          </a:prstGeom>
          <a:noFill/>
        </p:spPr>
        <p:txBody>
          <a:bodyPr wrap="square">
            <a:spAutoFit/>
          </a:bodyPr>
          <a:lstStyle/>
          <a:p>
            <a:pPr>
              <a:defRPr sz="1400" b="1">
                <a:solidFill>
                  <a:srgbClr val="0EA5E9"/>
                </a:solidFill>
                <a:latin typeface="Arial"/>
              </a:defRPr>
            </a:pPr>
            <a:r>
              <a:t>4. ATTENDANCE FRAUD &amp; DATA SILOS</a:t>
            </a:r>
          </a:p>
        </p:txBody>
      </p:sp>
      <p:sp>
        <p:nvSpPr>
          <p:cNvPr id="18" name="TextBox 17"/>
          <p:cNvSpPr txBox="1"/>
          <p:nvPr/>
        </p:nvSpPr>
        <p:spPr>
          <a:xfrm>
            <a:off x="6355080" y="4343400"/>
            <a:ext cx="4663440" cy="1371600"/>
          </a:xfrm>
          <a:prstGeom prst="rect">
            <a:avLst/>
          </a:prstGeom>
          <a:noFill/>
        </p:spPr>
        <p:txBody>
          <a:bodyPr wrap="square">
            <a:spAutoFit/>
          </a:bodyPr>
          <a:lstStyle/>
          <a:p>
            <a:pPr>
              <a:spcBef>
                <a:spcPts val="300"/>
              </a:spcBef>
              <a:defRPr sz="1100">
                <a:solidFill>
                  <a:srgbClr val="F8FAFC"/>
                </a:solidFill>
              </a:defRPr>
            </a:pPr>
            <a:r>
              <a:t>• Paper registers are easily lost or falsified.</a:t>
            </a:r>
          </a:p>
          <a:p>
            <a:pPr>
              <a:spcBef>
                <a:spcPts val="300"/>
              </a:spcBef>
              <a:defRPr sz="1100">
                <a:solidFill>
                  <a:srgbClr val="F8FAFC"/>
                </a:solidFill>
              </a:defRPr>
            </a:pPr>
            <a:r>
              <a:t>• Laborious manual data entry into Excel.</a:t>
            </a:r>
          </a:p>
          <a:p>
            <a:pPr>
              <a:spcBef>
                <a:spcPts val="300"/>
              </a:spcBef>
              <a:defRPr sz="1100">
                <a:solidFill>
                  <a:srgbClr val="F8FAFC"/>
                </a:solidFill>
              </a:defRPr>
            </a:pPr>
            <a:r>
              <a:t>• Frequent invoicing disputes with clients.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03 | METHODOLOGY &amp; REQUIREMENTS</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Agile Scrum Framework &amp; 5-Sprint Roadmap</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[8]</a:t>
            </a:r>
          </a:p>
        </p:txBody>
      </p:sp>
      <p:sp>
        <p:nvSpPr>
          <p:cNvPr id="7" name="Rounded Rectangle 6"/>
          <p:cNvSpPr/>
          <p:nvPr/>
        </p:nvSpPr>
        <p:spPr>
          <a:xfrm>
            <a:off x="731520" y="1463040"/>
            <a:ext cx="2011680" cy="45720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554480" cy="365760"/>
          </a:xfrm>
          <a:prstGeom prst="rect">
            <a:avLst/>
          </a:prstGeom>
          <a:noFill/>
        </p:spPr>
        <p:txBody>
          <a:bodyPr wrap="square">
            <a:spAutoFit/>
          </a:bodyPr>
          <a:lstStyle/>
          <a:p>
            <a:pPr>
              <a:defRPr sz="1400" b="1">
                <a:solidFill>
                  <a:srgbClr val="0EA5E9"/>
                </a:solidFill>
                <a:latin typeface="Arial"/>
              </a:defRPr>
            </a:pPr>
            <a:r>
              <a:t>Sprint 1</a:t>
            </a:r>
          </a:p>
        </p:txBody>
      </p:sp>
      <p:sp>
        <p:nvSpPr>
          <p:cNvPr id="9" name="Rounded Rectangle 8"/>
          <p:cNvSpPr/>
          <p:nvPr/>
        </p:nvSpPr>
        <p:spPr>
          <a:xfrm>
            <a:off x="868680" y="2011680"/>
            <a:ext cx="173736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B0F19"/>
                </a:solidFill>
              </a:defRPr>
            </a:pPr>
            <a:r>
              <a:t>Foundation &amp; Auth</a:t>
            </a:r>
          </a:p>
        </p:txBody>
      </p:sp>
      <p:sp>
        <p:nvSpPr>
          <p:cNvPr id="10" name="TextBox 9"/>
          <p:cNvSpPr txBox="1"/>
          <p:nvPr/>
        </p:nvSpPr>
        <p:spPr>
          <a:xfrm>
            <a:off x="868680" y="2560320"/>
            <a:ext cx="1737360" cy="3291840"/>
          </a:xfrm>
          <a:prstGeom prst="rect">
            <a:avLst/>
          </a:prstGeom>
          <a:noFill/>
        </p:spPr>
        <p:txBody>
          <a:bodyPr wrap="square">
            <a:spAutoFit/>
          </a:bodyPr>
          <a:lstStyle/>
          <a:p>
            <a:pPr>
              <a:defRPr sz="1050">
                <a:solidFill>
                  <a:srgbClr val="F8FAFC"/>
                </a:solidFill>
              </a:defRPr>
            </a:pPr>
            <a:r>
              <a:t>Clean Architecture setup, JWT Authentication &amp; multi-tenant SocieteId isolation.</a:t>
            </a:r>
          </a:p>
        </p:txBody>
      </p:sp>
      <p:sp>
        <p:nvSpPr>
          <p:cNvPr id="11" name="Rounded Rectangle 10"/>
          <p:cNvSpPr/>
          <p:nvPr/>
        </p:nvSpPr>
        <p:spPr>
          <a:xfrm>
            <a:off x="2889504" y="1463040"/>
            <a:ext cx="2011680" cy="45720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18104" y="1645920"/>
            <a:ext cx="1554480" cy="365760"/>
          </a:xfrm>
          <a:prstGeom prst="rect">
            <a:avLst/>
          </a:prstGeom>
          <a:noFill/>
        </p:spPr>
        <p:txBody>
          <a:bodyPr wrap="square">
            <a:spAutoFit/>
          </a:bodyPr>
          <a:lstStyle/>
          <a:p>
            <a:pPr>
              <a:defRPr sz="1400" b="1">
                <a:solidFill>
                  <a:srgbClr val="0EA5E9"/>
                </a:solidFill>
                <a:latin typeface="Arial"/>
              </a:defRPr>
            </a:pPr>
            <a:r>
              <a:t>Sprint 2</a:t>
            </a:r>
          </a:p>
        </p:txBody>
      </p:sp>
      <p:sp>
        <p:nvSpPr>
          <p:cNvPr id="13" name="Rounded Rectangle 12"/>
          <p:cNvSpPr/>
          <p:nvPr/>
        </p:nvSpPr>
        <p:spPr>
          <a:xfrm>
            <a:off x="3026664" y="2011680"/>
            <a:ext cx="173736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B0F19"/>
                </a:solidFill>
              </a:defRPr>
            </a:pPr>
            <a:r>
              <a:t>Master Logistics</a:t>
            </a:r>
          </a:p>
        </p:txBody>
      </p:sp>
      <p:sp>
        <p:nvSpPr>
          <p:cNvPr id="14" name="TextBox 13"/>
          <p:cNvSpPr txBox="1"/>
          <p:nvPr/>
        </p:nvSpPr>
        <p:spPr>
          <a:xfrm>
            <a:off x="3026664" y="2560320"/>
            <a:ext cx="1737360" cy="3291840"/>
          </a:xfrm>
          <a:prstGeom prst="rect">
            <a:avLst/>
          </a:prstGeom>
          <a:noFill/>
        </p:spPr>
        <p:txBody>
          <a:bodyPr wrap="square">
            <a:spAutoFit/>
          </a:bodyPr>
          <a:lstStyle/>
          <a:p>
            <a:pPr>
              <a:defRPr sz="1050">
                <a:solidFill>
                  <a:srgbClr val="F8FAFC"/>
                </a:solidFill>
              </a:defRPr>
            </a:pPr>
            <a:r>
              <a:t>Fleet catalog, drivers, circuits, ordered pickup points, shifts &amp; granular RBAC.</a:t>
            </a:r>
          </a:p>
        </p:txBody>
      </p:sp>
      <p:sp>
        <p:nvSpPr>
          <p:cNvPr id="15" name="Rounded Rectangle 14"/>
          <p:cNvSpPr/>
          <p:nvPr/>
        </p:nvSpPr>
        <p:spPr>
          <a:xfrm>
            <a:off x="5047488" y="1463040"/>
            <a:ext cx="2011680" cy="45720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76088" y="1645920"/>
            <a:ext cx="1554480" cy="365760"/>
          </a:xfrm>
          <a:prstGeom prst="rect">
            <a:avLst/>
          </a:prstGeom>
          <a:noFill/>
        </p:spPr>
        <p:txBody>
          <a:bodyPr wrap="square">
            <a:spAutoFit/>
          </a:bodyPr>
          <a:lstStyle/>
          <a:p>
            <a:pPr>
              <a:defRPr sz="1400" b="1">
                <a:solidFill>
                  <a:srgbClr val="0EA5E9"/>
                </a:solidFill>
                <a:latin typeface="Arial"/>
              </a:defRPr>
            </a:pPr>
            <a:r>
              <a:t>Sprint 3</a:t>
            </a:r>
          </a:p>
        </p:txBody>
      </p:sp>
      <p:sp>
        <p:nvSpPr>
          <p:cNvPr id="17" name="Rounded Rectangle 16"/>
          <p:cNvSpPr/>
          <p:nvPr/>
        </p:nvSpPr>
        <p:spPr>
          <a:xfrm>
            <a:off x="5184648" y="2011680"/>
            <a:ext cx="173736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B0F19"/>
                </a:solidFill>
              </a:defRPr>
            </a:pPr>
            <a:r>
              <a:t>Live Supervision</a:t>
            </a:r>
          </a:p>
        </p:txBody>
      </p:sp>
      <p:sp>
        <p:nvSpPr>
          <p:cNvPr id="18" name="TextBox 17"/>
          <p:cNvSpPr txBox="1"/>
          <p:nvPr/>
        </p:nvSpPr>
        <p:spPr>
          <a:xfrm>
            <a:off x="5184648" y="2560320"/>
            <a:ext cx="1737360" cy="3291840"/>
          </a:xfrm>
          <a:prstGeom prst="rect">
            <a:avLst/>
          </a:prstGeom>
          <a:noFill/>
        </p:spPr>
        <p:txBody>
          <a:bodyPr wrap="square">
            <a:spAutoFit/>
          </a:bodyPr>
          <a:lstStyle/>
          <a:p>
            <a:pPr>
              <a:defRPr sz="1050">
                <a:solidFill>
                  <a:srgbClr val="F8FAFC"/>
                </a:solidFill>
              </a:defRPr>
            </a:pPr>
            <a:r>
              <a:t>Interactive Leaflet map, real-time SVG markers &amp; telemetry timeline.</a:t>
            </a:r>
          </a:p>
        </p:txBody>
      </p:sp>
      <p:sp>
        <p:nvSpPr>
          <p:cNvPr id="19" name="Rounded Rectangle 18"/>
          <p:cNvSpPr/>
          <p:nvPr/>
        </p:nvSpPr>
        <p:spPr>
          <a:xfrm>
            <a:off x="7205472" y="1463040"/>
            <a:ext cx="2011680"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34071" y="1645920"/>
            <a:ext cx="1554480" cy="365760"/>
          </a:xfrm>
          <a:prstGeom prst="rect">
            <a:avLst/>
          </a:prstGeom>
          <a:noFill/>
        </p:spPr>
        <p:txBody>
          <a:bodyPr wrap="square">
            <a:spAutoFit/>
          </a:bodyPr>
          <a:lstStyle/>
          <a:p>
            <a:pPr>
              <a:defRPr sz="1400" b="1">
                <a:solidFill>
                  <a:srgbClr val="0EA5E9"/>
                </a:solidFill>
                <a:latin typeface="Arial"/>
              </a:defRPr>
            </a:pPr>
            <a:r>
              <a:t>Sprint 4</a:t>
            </a:r>
          </a:p>
        </p:txBody>
      </p:sp>
      <p:sp>
        <p:nvSpPr>
          <p:cNvPr id="21" name="Rounded Rectangle 20"/>
          <p:cNvSpPr/>
          <p:nvPr/>
        </p:nvSpPr>
        <p:spPr>
          <a:xfrm>
            <a:off x="7342631" y="2011680"/>
            <a:ext cx="1737360" cy="36576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B0F19"/>
                </a:solidFill>
              </a:defRPr>
            </a:pPr>
            <a:r>
              <a:t>IoT Telemetry &amp; AI</a:t>
            </a:r>
          </a:p>
        </p:txBody>
      </p:sp>
      <p:sp>
        <p:nvSpPr>
          <p:cNvPr id="22" name="TextBox 21"/>
          <p:cNvSpPr txBox="1"/>
          <p:nvPr/>
        </p:nvSpPr>
        <p:spPr>
          <a:xfrm>
            <a:off x="7342631" y="2560320"/>
            <a:ext cx="1737360" cy="3291840"/>
          </a:xfrm>
          <a:prstGeom prst="rect">
            <a:avLst/>
          </a:prstGeom>
          <a:noFill/>
        </p:spPr>
        <p:txBody>
          <a:bodyPr wrap="square">
            <a:spAutoFit/>
          </a:bodyPr>
          <a:lstStyle/>
          <a:p>
            <a:pPr>
              <a:defRPr sz="1050">
                <a:solidFill>
                  <a:srgbClr val="F8FAFC"/>
                </a:solidFill>
              </a:defRPr>
            </a:pPr>
            <a:r>
              <a:t>High-frequency GPS/RFID ingestion API, 250m geofence &amp; FastAPI ML ETA model.</a:t>
            </a:r>
          </a:p>
        </p:txBody>
      </p:sp>
      <p:sp>
        <p:nvSpPr>
          <p:cNvPr id="23" name="Rounded Rectangle 22"/>
          <p:cNvSpPr/>
          <p:nvPr/>
        </p:nvSpPr>
        <p:spPr>
          <a:xfrm>
            <a:off x="9363456" y="1463040"/>
            <a:ext cx="2011680"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92056" y="1645920"/>
            <a:ext cx="1554480" cy="365760"/>
          </a:xfrm>
          <a:prstGeom prst="rect">
            <a:avLst/>
          </a:prstGeom>
          <a:noFill/>
        </p:spPr>
        <p:txBody>
          <a:bodyPr wrap="square">
            <a:spAutoFit/>
          </a:bodyPr>
          <a:lstStyle/>
          <a:p>
            <a:pPr>
              <a:defRPr sz="1400" b="1">
                <a:solidFill>
                  <a:srgbClr val="0EA5E9"/>
                </a:solidFill>
                <a:latin typeface="Arial"/>
              </a:defRPr>
            </a:pPr>
            <a:r>
              <a:t>Sprint 5</a:t>
            </a:r>
          </a:p>
        </p:txBody>
      </p:sp>
      <p:sp>
        <p:nvSpPr>
          <p:cNvPr id="25" name="Rounded Rectangle 24"/>
          <p:cNvSpPr/>
          <p:nvPr/>
        </p:nvSpPr>
        <p:spPr>
          <a:xfrm>
            <a:off x="9500616" y="2011680"/>
            <a:ext cx="173736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B0F19"/>
                </a:solidFill>
              </a:defRPr>
            </a:pPr>
            <a:r>
              <a:t>Analytics &amp; i18n</a:t>
            </a:r>
          </a:p>
        </p:txBody>
      </p:sp>
      <p:sp>
        <p:nvSpPr>
          <p:cNvPr id="26" name="TextBox 25"/>
          <p:cNvSpPr txBox="1"/>
          <p:nvPr/>
        </p:nvSpPr>
        <p:spPr>
          <a:xfrm>
            <a:off x="9500616" y="2560320"/>
            <a:ext cx="1737360" cy="3291840"/>
          </a:xfrm>
          <a:prstGeom prst="rect">
            <a:avLst/>
          </a:prstGeom>
          <a:noFill/>
        </p:spPr>
        <p:txBody>
          <a:bodyPr wrap="square">
            <a:spAutoFit/>
          </a:bodyPr>
          <a:lstStyle/>
          <a:p>
            <a:pPr>
              <a:defRPr sz="1050">
                <a:solidFill>
                  <a:srgbClr val="F8FAFC"/>
                </a:solidFill>
              </a:defRPr>
            </a:pPr>
            <a:r>
              <a:t>Dynamic DevExtreme BI grids, custom layout builder &amp; 6-language i18n (RTL).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03 | METHODOLOGY &amp; REQUIREMENTS</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Functional (21 User Stories) &amp; Non-Functional Specifications</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[9]</a:t>
            </a:r>
          </a:p>
        </p:txBody>
      </p:sp>
      <p:sp>
        <p:nvSpPr>
          <p:cNvPr id="7" name="Rounded Rectangle 6"/>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Functional Requirements (21 Stories)</a:t>
            </a:r>
          </a:p>
        </p:txBody>
      </p:sp>
      <p:sp>
        <p:nvSpPr>
          <p:cNvPr id="9" name="TextBox 8"/>
          <p:cNvSpPr txBox="1"/>
          <p:nvPr/>
        </p:nvSpPr>
        <p:spPr>
          <a:xfrm>
            <a:off x="960120" y="2011680"/>
            <a:ext cx="4754880" cy="3931920"/>
          </a:xfrm>
          <a:prstGeom prst="rect">
            <a:avLst/>
          </a:prstGeom>
          <a:noFill/>
        </p:spPr>
        <p:txBody>
          <a:bodyPr wrap="square">
            <a:spAutoFit/>
          </a:bodyPr>
          <a:lstStyle/>
          <a:p>
            <a:pPr>
              <a:spcBef>
                <a:spcPts val="600"/>
              </a:spcBef>
              <a:defRPr sz="1100" b="1">
                <a:solidFill>
                  <a:srgbClr val="0EA5E9"/>
                </a:solidFill>
              </a:defRPr>
            </a:pPr>
            <a:r>
              <a:t>🔐 Multi-Tenant Identity &amp; RBAC</a:t>
            </a:r>
          </a:p>
          <a:p>
            <a:pPr>
              <a:defRPr sz="950">
                <a:solidFill>
                  <a:srgbClr val="F8FAFC"/>
                </a:solidFill>
              </a:defRPr>
            </a:pPr>
            <a:r>
              <a:t>JWT token authentication, screen &amp; action authorization matrix.</a:t>
            </a:r>
          </a:p>
          <a:p>
            <a:pPr>
              <a:spcBef>
                <a:spcPts val="600"/>
              </a:spcBef>
              <a:defRPr sz="1100" b="1">
                <a:solidFill>
                  <a:srgbClr val="0EA5E9"/>
                </a:solidFill>
              </a:defRPr>
            </a:pPr>
            <a:r>
              <a:t>🚌 Fleet &amp; Circuit Logistics</a:t>
            </a:r>
          </a:p>
          <a:p>
            <a:pPr>
              <a:defRPr sz="950">
                <a:solidFill>
                  <a:srgbClr val="F8FAFC"/>
                </a:solidFill>
              </a:defRPr>
            </a:pPr>
            <a:r>
              <a:t>Bus catalog, driver RFID assignment, ordered pickup route sequencer.</a:t>
            </a:r>
          </a:p>
          <a:p>
            <a:pPr>
              <a:spcBef>
                <a:spcPts val="600"/>
              </a:spcBef>
              <a:defRPr sz="1100" b="1">
                <a:solidFill>
                  <a:srgbClr val="0EA5E9"/>
                </a:solidFill>
              </a:defRPr>
            </a:pPr>
            <a:r>
              <a:t>📡 IoT Telemetry Ingestion</a:t>
            </a:r>
          </a:p>
          <a:p>
            <a:pPr>
              <a:defRPr sz="950">
                <a:solidFill>
                  <a:srgbClr val="F8FAFC"/>
                </a:solidFill>
              </a:defRPr>
            </a:pPr>
            <a:r>
              <a:t>Sub-second GPS &amp; RFID occupancy stream with 15-min replay defense.</a:t>
            </a:r>
          </a:p>
          <a:p>
            <a:pPr>
              <a:spcBef>
                <a:spcPts val="600"/>
              </a:spcBef>
              <a:defRPr sz="1100" b="1">
                <a:solidFill>
                  <a:srgbClr val="0EA5E9"/>
                </a:solidFill>
              </a:defRPr>
            </a:pPr>
            <a:r>
              <a:t>🤖 Machine Learning Prediction</a:t>
            </a:r>
          </a:p>
          <a:p>
            <a:pPr>
              <a:defRPr sz="950">
                <a:solidFill>
                  <a:srgbClr val="F8FAFC"/>
                </a:solidFill>
              </a:defRPr>
            </a:pPr>
            <a:r>
              <a:t>Real-time stop ETA inference via Python FastAPI microservice.</a:t>
            </a:r>
          </a:p>
          <a:p>
            <a:pPr>
              <a:spcBef>
                <a:spcPts val="600"/>
              </a:spcBef>
              <a:defRPr sz="1100" b="1">
                <a:solidFill>
                  <a:srgbClr val="0EA5E9"/>
                </a:solidFill>
              </a:defRPr>
            </a:pPr>
            <a:r>
              <a:t>📊 Analytics &amp; Reporting Engine</a:t>
            </a:r>
          </a:p>
          <a:p>
            <a:pPr>
              <a:defRPr sz="950">
                <a:solidFill>
                  <a:srgbClr val="F8FAFC"/>
                </a:solidFill>
              </a:defRPr>
            </a:pPr>
            <a:r>
              <a:t>Dynamic grouping, sorting, custom layout presets, Excel/PDF export.</a:t>
            </a:r>
          </a:p>
        </p:txBody>
      </p:sp>
      <p:sp>
        <p:nvSpPr>
          <p:cNvPr id="10" name="Rounded Rectangle 9"/>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Non-Functional Engineering Standards</a:t>
            </a:r>
          </a:p>
        </p:txBody>
      </p:sp>
      <p:sp>
        <p:nvSpPr>
          <p:cNvPr id="12" name="TextBox 11"/>
          <p:cNvSpPr txBox="1"/>
          <p:nvPr/>
        </p:nvSpPr>
        <p:spPr>
          <a:xfrm>
            <a:off x="6446520" y="2011680"/>
            <a:ext cx="4754880" cy="3931920"/>
          </a:xfrm>
          <a:prstGeom prst="rect">
            <a:avLst/>
          </a:prstGeom>
          <a:noFill/>
        </p:spPr>
        <p:txBody>
          <a:bodyPr wrap="square">
            <a:spAutoFit/>
          </a:bodyPr>
          <a:lstStyle/>
          <a:p>
            <a:pPr>
              <a:spcBef>
                <a:spcPts val="800"/>
              </a:spcBef>
              <a:defRPr sz="1100" b="1">
                <a:solidFill>
                  <a:srgbClr val="10B981"/>
                </a:solidFill>
              </a:defRPr>
            </a:pPr>
            <a:r>
              <a:t>⚡ High-Speed Ingestion Latency</a:t>
            </a:r>
          </a:p>
          <a:p>
            <a:pPr>
              <a:defRPr sz="950">
                <a:solidFill>
                  <a:srgbClr val="F8FAFC"/>
                </a:solidFill>
              </a:defRPr>
            </a:pPr>
            <a:r>
              <a:t>Telemetry ingestion API requests resolve in &lt; 200ms to prevent device queueing.</a:t>
            </a:r>
          </a:p>
          <a:p>
            <a:pPr>
              <a:spcBef>
                <a:spcPts val="800"/>
              </a:spcBef>
              <a:defRPr sz="1100" b="1">
                <a:solidFill>
                  <a:srgbClr val="10B981"/>
                </a:solidFill>
              </a:defRPr>
            </a:pPr>
            <a:r>
              <a:t>🔄 Concurrent Modem Scalability</a:t>
            </a:r>
          </a:p>
          <a:p>
            <a:pPr>
              <a:defRPr sz="950">
                <a:solidFill>
                  <a:srgbClr val="F8FAFC"/>
                </a:solidFill>
              </a:defRPr>
            </a:pPr>
            <a:r>
              <a:t>Supports 50+ concurrent modems broadcasting every 30s without deadlocks.</a:t>
            </a:r>
          </a:p>
          <a:p>
            <a:pPr>
              <a:spcBef>
                <a:spcPts val="800"/>
              </a:spcBef>
              <a:defRPr sz="1100" b="1">
                <a:solidFill>
                  <a:srgbClr val="10B981"/>
                </a:solidFill>
              </a:defRPr>
            </a:pPr>
            <a:r>
              <a:t>🛡️ Strict Multi-Tenant Isolation</a:t>
            </a:r>
          </a:p>
          <a:p>
            <a:pPr>
              <a:defRPr sz="950">
                <a:solidFill>
                  <a:srgbClr val="F8FAFC"/>
                </a:solidFill>
              </a:defRPr>
            </a:pPr>
            <a:r>
              <a:t>Global EF Core query filters enforce SocieteId boundaries on all queries.</a:t>
            </a:r>
          </a:p>
          <a:p>
            <a:pPr>
              <a:spcBef>
                <a:spcPts val="800"/>
              </a:spcBef>
              <a:defRPr sz="1100" b="1">
                <a:solidFill>
                  <a:srgbClr val="10B981"/>
                </a:solidFill>
              </a:defRPr>
            </a:pPr>
            <a:r>
              <a:t>🌐 Multi-Language &amp; RTL Accessibility</a:t>
            </a:r>
          </a:p>
          <a:p>
            <a:pPr>
              <a:defRPr sz="950">
                <a:solidFill>
                  <a:srgbClr val="F8FAFC"/>
                </a:solidFill>
              </a:defRPr>
            </a:pPr>
            <a:r>
              <a:t>ngx-translate supporting 6 languages (FR, EN, AR, ES, IT, TR) with full Arabic RTL.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04 | PROPOSED SOLUTION</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Global Multi-Tier Distributed Architecture</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[10]</a:t>
            </a:r>
          </a:p>
        </p:txBody>
      </p:sp>
      <p:sp>
        <p:nvSpPr>
          <p:cNvPr id="7" name="Rounded Rectangle 6"/>
          <p:cNvSpPr/>
          <p:nvPr/>
        </p:nvSpPr>
        <p:spPr>
          <a:xfrm>
            <a:off x="731520" y="1463040"/>
            <a:ext cx="10698480" cy="1051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41280" cy="365760"/>
          </a:xfrm>
          <a:prstGeom prst="rect">
            <a:avLst/>
          </a:prstGeom>
          <a:noFill/>
        </p:spPr>
        <p:txBody>
          <a:bodyPr wrap="square">
            <a:spAutoFit/>
          </a:bodyPr>
          <a:lstStyle/>
          <a:p>
            <a:pPr>
              <a:defRPr sz="1400" b="1">
                <a:solidFill>
                  <a:srgbClr val="0EA5E9"/>
                </a:solidFill>
                <a:latin typeface="Arial"/>
              </a:defRPr>
            </a:pPr>
            <a:r>
              <a:t>TIER 1: FIELD &amp; IoT HARDWARE</a:t>
            </a:r>
          </a:p>
        </p:txBody>
      </p:sp>
      <p:sp>
        <p:nvSpPr>
          <p:cNvPr id="9" name="TextBox 8"/>
          <p:cNvSpPr txBox="1"/>
          <p:nvPr/>
        </p:nvSpPr>
        <p:spPr>
          <a:xfrm>
            <a:off x="960120" y="1965960"/>
            <a:ext cx="10241280" cy="457200"/>
          </a:xfrm>
          <a:prstGeom prst="rect">
            <a:avLst/>
          </a:prstGeom>
          <a:noFill/>
        </p:spPr>
        <p:txBody>
          <a:bodyPr wrap="square">
            <a:spAutoFit/>
          </a:bodyPr>
          <a:lstStyle/>
          <a:p>
            <a:pPr>
              <a:defRPr sz="1100">
                <a:solidFill>
                  <a:srgbClr val="F8FAFC"/>
                </a:solidFill>
              </a:defRPr>
            </a:pPr>
            <a:r>
              <a:t>Onboard GPS Modems (Coordinate Streams) • RFID Badge Scanners (Passenger Pointage)</a:t>
            </a:r>
          </a:p>
        </p:txBody>
      </p:sp>
      <p:sp>
        <p:nvSpPr>
          <p:cNvPr id="10" name="Rounded Rectangle 9"/>
          <p:cNvSpPr/>
          <p:nvPr/>
        </p:nvSpPr>
        <p:spPr>
          <a:xfrm>
            <a:off x="731520" y="2651760"/>
            <a:ext cx="10698480" cy="105156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34640"/>
            <a:ext cx="10241280" cy="365760"/>
          </a:xfrm>
          <a:prstGeom prst="rect">
            <a:avLst/>
          </a:prstGeom>
          <a:noFill/>
        </p:spPr>
        <p:txBody>
          <a:bodyPr wrap="square">
            <a:spAutoFit/>
          </a:bodyPr>
          <a:lstStyle/>
          <a:p>
            <a:pPr>
              <a:defRPr sz="1400" b="1">
                <a:solidFill>
                  <a:srgbClr val="0EA5E9"/>
                </a:solidFill>
                <a:latin typeface="Arial"/>
              </a:defRPr>
            </a:pPr>
            <a:r>
              <a:t>TIER 2: CLIENT USER PORTAL</a:t>
            </a:r>
          </a:p>
        </p:txBody>
      </p:sp>
      <p:sp>
        <p:nvSpPr>
          <p:cNvPr id="12" name="TextBox 11"/>
          <p:cNvSpPr txBox="1"/>
          <p:nvPr/>
        </p:nvSpPr>
        <p:spPr>
          <a:xfrm>
            <a:off x="960120" y="3154680"/>
            <a:ext cx="10241280" cy="457200"/>
          </a:xfrm>
          <a:prstGeom prst="rect">
            <a:avLst/>
          </a:prstGeom>
          <a:noFill/>
        </p:spPr>
        <p:txBody>
          <a:bodyPr wrap="square">
            <a:spAutoFit/>
          </a:bodyPr>
          <a:lstStyle/>
          <a:p>
            <a:pPr>
              <a:defRPr sz="1100">
                <a:solidFill>
                  <a:srgbClr val="F8FAFC"/>
                </a:solidFill>
              </a:defRPr>
            </a:pPr>
            <a:r>
              <a:t>Angular 18 SPA (Nginx) • Leaflet Cartography • DevExtreme Grids • Tailwind CSS</a:t>
            </a:r>
          </a:p>
        </p:txBody>
      </p:sp>
      <p:sp>
        <p:nvSpPr>
          <p:cNvPr id="13" name="Rounded Rectangle 12"/>
          <p:cNvSpPr/>
          <p:nvPr/>
        </p:nvSpPr>
        <p:spPr>
          <a:xfrm>
            <a:off x="731520" y="3840480"/>
            <a:ext cx="10698480" cy="1051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23360"/>
            <a:ext cx="10241280" cy="365760"/>
          </a:xfrm>
          <a:prstGeom prst="rect">
            <a:avLst/>
          </a:prstGeom>
          <a:noFill/>
        </p:spPr>
        <p:txBody>
          <a:bodyPr wrap="square">
            <a:spAutoFit/>
          </a:bodyPr>
          <a:lstStyle/>
          <a:p>
            <a:pPr>
              <a:defRPr sz="1400" b="1">
                <a:solidFill>
                  <a:srgbClr val="0EA5E9"/>
                </a:solidFill>
                <a:latin typeface="Arial"/>
              </a:defRPr>
            </a:pPr>
            <a:r>
              <a:t>TIER 3: CENTRAL BUSINESS ORCHESTRATION</a:t>
            </a:r>
          </a:p>
        </p:txBody>
      </p:sp>
      <p:sp>
        <p:nvSpPr>
          <p:cNvPr id="15" name="TextBox 14"/>
          <p:cNvSpPr txBox="1"/>
          <p:nvPr/>
        </p:nvSpPr>
        <p:spPr>
          <a:xfrm>
            <a:off x="960120" y="4343400"/>
            <a:ext cx="10241280" cy="457200"/>
          </a:xfrm>
          <a:prstGeom prst="rect">
            <a:avLst/>
          </a:prstGeom>
          <a:noFill/>
        </p:spPr>
        <p:txBody>
          <a:bodyPr wrap="square">
            <a:spAutoFit/>
          </a:bodyPr>
          <a:lstStyle/>
          <a:p>
            <a:pPr>
              <a:defRPr sz="1100">
                <a:solidFill>
                  <a:srgbClr val="F8FAFC"/>
                </a:solidFill>
              </a:defRPr>
            </a:pPr>
            <a:r>
              <a:t>.NET 8 WebAPI • Carter Minimal APIs • MediatR CQRS Pipeline • EF Core 8 ORM</a:t>
            </a:r>
          </a:p>
        </p:txBody>
      </p:sp>
      <p:sp>
        <p:nvSpPr>
          <p:cNvPr id="16" name="Rounded Rectangle 15"/>
          <p:cNvSpPr/>
          <p:nvPr/>
        </p:nvSpPr>
        <p:spPr>
          <a:xfrm>
            <a:off x="731520" y="5029200"/>
            <a:ext cx="10698480" cy="1051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212080"/>
            <a:ext cx="10241280" cy="365760"/>
          </a:xfrm>
          <a:prstGeom prst="rect">
            <a:avLst/>
          </a:prstGeom>
          <a:noFill/>
        </p:spPr>
        <p:txBody>
          <a:bodyPr wrap="square">
            <a:spAutoFit/>
          </a:bodyPr>
          <a:lstStyle/>
          <a:p>
            <a:pPr>
              <a:defRPr sz="1400" b="1">
                <a:solidFill>
                  <a:srgbClr val="0EA5E9"/>
                </a:solidFill>
                <a:latin typeface="Arial"/>
              </a:defRPr>
            </a:pPr>
            <a:r>
              <a:t>TIER 4: DATA &amp; PREDICTIVE INTELLIGENCE</a:t>
            </a:r>
          </a:p>
        </p:txBody>
      </p:sp>
      <p:sp>
        <p:nvSpPr>
          <p:cNvPr id="18" name="TextBox 17"/>
          <p:cNvSpPr txBox="1"/>
          <p:nvPr/>
        </p:nvSpPr>
        <p:spPr>
          <a:xfrm>
            <a:off x="960120" y="5532120"/>
            <a:ext cx="10241280" cy="457200"/>
          </a:xfrm>
          <a:prstGeom prst="rect">
            <a:avLst/>
          </a:prstGeom>
          <a:noFill/>
        </p:spPr>
        <p:txBody>
          <a:bodyPr wrap="square">
            <a:spAutoFit/>
          </a:bodyPr>
          <a:lstStyle/>
          <a:p>
            <a:pPr>
              <a:defRPr sz="1100">
                <a:solidFill>
                  <a:srgbClr val="F8FAFC"/>
                </a:solidFill>
              </a:defRPr>
            </a:pPr>
            <a:r>
              <a:t>Microsoft SQL Server 2019 (Transactional DB) • FastAPI Python ML Microservice (ETA Inference)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04 | PROPOSED SOLUTION</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Backend Design: Clean Architecture &amp; CQRS Pipeline</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[11]</a:t>
            </a:r>
          </a:p>
        </p:txBody>
      </p:sp>
      <p:sp>
        <p:nvSpPr>
          <p:cNvPr id="7" name="Rounded Rectangle 6"/>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Clean Architecture (4 C# Projects)</a:t>
            </a:r>
          </a:p>
        </p:txBody>
      </p:sp>
      <p:sp>
        <p:nvSpPr>
          <p:cNvPr id="9" name="TextBox 8"/>
          <p:cNvSpPr txBox="1"/>
          <p:nvPr/>
        </p:nvSpPr>
        <p:spPr>
          <a:xfrm>
            <a:off x="960120" y="2011680"/>
            <a:ext cx="4754880" cy="3931920"/>
          </a:xfrm>
          <a:prstGeom prst="rect">
            <a:avLst/>
          </a:prstGeom>
          <a:noFill/>
        </p:spPr>
        <p:txBody>
          <a:bodyPr wrap="square">
            <a:spAutoFit/>
          </a:bodyPr>
          <a:lstStyle/>
          <a:p>
            <a:pPr>
              <a:spcBef>
                <a:spcPts val="400"/>
              </a:spcBef>
              <a:defRPr sz="1050" b="1">
                <a:solidFill>
                  <a:srgbClr val="0EA5E9"/>
                </a:solidFill>
              </a:defRPr>
            </a:pPr>
            <a:r>
              <a:t>• Couche Domain (CollectManagement.Domain)</a:t>
            </a:r>
          </a:p>
          <a:p>
            <a:pPr>
              <a:defRPr sz="900">
                <a:solidFill>
                  <a:srgbClr val="F8FAFC"/>
                </a:solidFill>
              </a:defRPr>
            </a:pPr>
            <a:r>
              <a:t>   Pure enterprise entities, value objects &amp; business rules. Zero external dependencies.</a:t>
            </a:r>
          </a:p>
          <a:p>
            <a:pPr>
              <a:spcBef>
                <a:spcPts val="400"/>
              </a:spcBef>
              <a:defRPr sz="1050" b="1">
                <a:solidFill>
                  <a:srgbClr val="0EA5E9"/>
                </a:solidFill>
              </a:defRPr>
            </a:pPr>
            <a:r>
              <a:t>• Couche Application (CollectManagement.Application)</a:t>
            </a:r>
          </a:p>
          <a:p>
            <a:pPr>
              <a:defRPr sz="900">
                <a:solidFill>
                  <a:srgbClr val="F8FAFC"/>
                </a:solidFill>
              </a:defRPr>
            </a:pPr>
            <a:r>
              <a:t>   CQRS Commands &amp; Queries, MediatR Handlers, Validation pipelines, DTO interfaces.</a:t>
            </a:r>
          </a:p>
          <a:p>
            <a:pPr>
              <a:spcBef>
                <a:spcPts val="400"/>
              </a:spcBef>
              <a:defRPr sz="1050" b="1">
                <a:solidFill>
                  <a:srgbClr val="0EA5E9"/>
                </a:solidFill>
              </a:defRPr>
            </a:pPr>
            <a:r>
              <a:t>• Couche Infrastructure (CollectManagement.Infrastructure)</a:t>
            </a:r>
          </a:p>
          <a:p>
            <a:pPr>
              <a:defRPr sz="900">
                <a:solidFill>
                  <a:srgbClr val="F8FAFC"/>
                </a:solidFill>
              </a:defRPr>
            </a:pPr>
            <a:r>
              <a:t>   EF Core DbContext, JWT security, ML HTTP client, PDF rendering engines.</a:t>
            </a:r>
          </a:p>
          <a:p>
            <a:pPr>
              <a:spcBef>
                <a:spcPts val="400"/>
              </a:spcBef>
              <a:defRPr sz="1050" b="1">
                <a:solidFill>
                  <a:srgbClr val="0EA5E9"/>
                </a:solidFill>
              </a:defRPr>
            </a:pPr>
            <a:r>
              <a:t>• Couche WebAPI (CollectManagement.WebAPI)</a:t>
            </a:r>
          </a:p>
          <a:p>
            <a:pPr>
              <a:defRPr sz="900">
                <a:solidFill>
                  <a:srgbClr val="F8FAFC"/>
                </a:solidFill>
              </a:defRPr>
            </a:pPr>
            <a:r>
              <a:t>   Carter Minimal API routing modules, middleware, dependency injection configuration.</a:t>
            </a:r>
          </a:p>
        </p:txBody>
      </p:sp>
      <p:sp>
        <p:nvSpPr>
          <p:cNvPr id="10" name="Rounded Rectangle 9"/>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CQRS Pattern with MediatR Pipeline</a:t>
            </a:r>
          </a:p>
        </p:txBody>
      </p:sp>
      <p:sp>
        <p:nvSpPr>
          <p:cNvPr id="12" name="TextBox 11"/>
          <p:cNvSpPr txBox="1"/>
          <p:nvPr/>
        </p:nvSpPr>
        <p:spPr>
          <a:xfrm>
            <a:off x="6446520" y="2011680"/>
            <a:ext cx="4754880" cy="3931920"/>
          </a:xfrm>
          <a:prstGeom prst="rect">
            <a:avLst/>
          </a:prstGeom>
          <a:noFill/>
        </p:spPr>
        <p:txBody>
          <a:bodyPr wrap="square">
            <a:spAutoFit/>
          </a:bodyPr>
          <a:lstStyle/>
          <a:p>
            <a:pPr>
              <a:spcBef>
                <a:spcPts val="400"/>
              </a:spcBef>
              <a:defRPr sz="1050" b="1">
                <a:solidFill>
                  <a:srgbClr val="10B981"/>
                </a:solidFill>
              </a:defRPr>
            </a:pPr>
            <a:r>
              <a:t>• Commands (State Mutations)</a:t>
            </a:r>
          </a:p>
          <a:p>
            <a:pPr>
              <a:defRPr sz="900">
                <a:solidFill>
                  <a:srgbClr val="F8FAFC"/>
                </a:solidFill>
              </a:defRPr>
            </a:pPr>
            <a:r>
              <a:t>   Encapsulate writes (CreateBus, IngestTelemetry). Validated by FluentValidation before execution.</a:t>
            </a:r>
          </a:p>
          <a:p>
            <a:pPr>
              <a:spcBef>
                <a:spcPts val="400"/>
              </a:spcBef>
              <a:defRPr sz="1050" b="1">
                <a:solidFill>
                  <a:srgbClr val="10B981"/>
                </a:solidFill>
              </a:defRPr>
            </a:pPr>
            <a:r>
              <a:t>• Queries (Read-Only Data)</a:t>
            </a:r>
          </a:p>
          <a:p>
            <a:pPr>
              <a:defRPr sz="900">
                <a:solidFill>
                  <a:srgbClr val="F8FAFC"/>
                </a:solidFill>
              </a:defRPr>
            </a:pPr>
            <a:r>
              <a:t>   Optimized data projection queries (GetLiveFleet, RunAnalyseQuery) with zero side effects.</a:t>
            </a:r>
          </a:p>
          <a:p>
            <a:pPr>
              <a:spcBef>
                <a:spcPts val="400"/>
              </a:spcBef>
              <a:defRPr sz="1050" b="1">
                <a:solidFill>
                  <a:srgbClr val="10B981"/>
                </a:solidFill>
              </a:defRPr>
            </a:pPr>
            <a:r>
              <a:t>• MediatR Pipeline Behaviors</a:t>
            </a:r>
          </a:p>
          <a:p>
            <a:pPr>
              <a:defRPr sz="900">
                <a:solidFill>
                  <a:srgbClr val="F8FAFC"/>
                </a:solidFill>
              </a:defRPr>
            </a:pPr>
            <a:r>
              <a:t>   Automatic cross-cutting concerns: LoggingBehavior, ValidationBehavior, UnitOfWorkBehavior.</a:t>
            </a:r>
          </a:p>
          <a:p>
            <a:pPr>
              <a:spcBef>
                <a:spcPts val="400"/>
              </a:spcBef>
              <a:defRPr sz="1050" b="1">
                <a:solidFill>
                  <a:srgbClr val="10B981"/>
                </a:solidFill>
              </a:defRPr>
            </a:pPr>
            <a:r>
              <a:t>• Atomic Unit of Work</a:t>
            </a:r>
          </a:p>
          <a:p>
            <a:pPr>
              <a:defRPr sz="900">
                <a:solidFill>
                  <a:srgbClr val="F8FAFC"/>
                </a:solidFill>
              </a:defRPr>
            </a:pPr>
            <a:r>
              <a:t>   Guarantees transactional consistency across multi-entity operations.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04 | PROPOSED SOLUTION</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Automated 250m Geofencing &amp; Machine Learning ETA</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[12]</a:t>
            </a:r>
          </a:p>
        </p:txBody>
      </p:sp>
      <p:sp>
        <p:nvSpPr>
          <p:cNvPr id="7" name="Rounded Rectangle 6"/>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250m Geofencing Detour Engine</a:t>
            </a:r>
          </a:p>
        </p:txBody>
      </p:sp>
      <p:sp>
        <p:nvSpPr>
          <p:cNvPr id="9" name="TextBox 8"/>
          <p:cNvSpPr txBox="1"/>
          <p:nvPr/>
        </p:nvSpPr>
        <p:spPr>
          <a:xfrm>
            <a:off x="960120" y="2011680"/>
            <a:ext cx="4754880" cy="3931920"/>
          </a:xfrm>
          <a:prstGeom prst="rect">
            <a:avLst/>
          </a:prstGeom>
          <a:noFill/>
        </p:spPr>
        <p:txBody>
          <a:bodyPr wrap="square">
            <a:spAutoFit/>
          </a:bodyPr>
          <a:lstStyle/>
          <a:p>
            <a:pPr>
              <a:spcBef>
                <a:spcPts val="600"/>
              </a:spcBef>
              <a:defRPr sz="1050" b="1">
                <a:solidFill>
                  <a:srgbClr val="EF4444"/>
                </a:solidFill>
              </a:defRPr>
            </a:pPr>
            <a:r>
              <a:t>• Haversine Spatial Computation</a:t>
            </a:r>
          </a:p>
          <a:p>
            <a:pPr>
              <a:defRPr sz="950">
                <a:solidFill>
                  <a:srgbClr val="F8FAFC"/>
                </a:solidFill>
              </a:defRPr>
            </a:pPr>
            <a:r>
              <a:t>   Calculates great-circle distance between live GPS telemetry and nearest route polyline segment.</a:t>
            </a:r>
          </a:p>
          <a:p>
            <a:pPr>
              <a:spcBef>
                <a:spcPts val="600"/>
              </a:spcBef>
              <a:defRPr sz="1050" b="1">
                <a:solidFill>
                  <a:srgbClr val="EF4444"/>
                </a:solidFill>
              </a:defRPr>
            </a:pPr>
            <a:r>
              <a:t>• 250-Meter Deviation Threshold</a:t>
            </a:r>
          </a:p>
          <a:p>
            <a:pPr>
              <a:defRPr sz="950">
                <a:solidFill>
                  <a:srgbClr val="F8FAFC"/>
                </a:solidFill>
              </a:defRPr>
            </a:pPr>
            <a:r>
              <a:t>   If distance &gt; 250m, the vehicle status is flagged as 'Detour Alert' in real-time.</a:t>
            </a:r>
          </a:p>
          <a:p>
            <a:pPr>
              <a:spcBef>
                <a:spcPts val="600"/>
              </a:spcBef>
              <a:defRPr sz="1050" b="1">
                <a:solidFill>
                  <a:srgbClr val="EF4444"/>
                </a:solidFill>
              </a:defRPr>
            </a:pPr>
            <a:r>
              <a:t>• Replay Attack Protection</a:t>
            </a:r>
          </a:p>
          <a:p>
            <a:pPr>
              <a:defRPr sz="950">
                <a:solidFill>
                  <a:srgbClr val="F8FAFC"/>
                </a:solidFill>
              </a:defRPr>
            </a:pPr>
            <a:r>
              <a:t>   Telemetry payloads with timestamps older than 15 minutes are automatically discarded.</a:t>
            </a:r>
          </a:p>
          <a:p>
            <a:pPr>
              <a:spcBef>
                <a:spcPts val="600"/>
              </a:spcBef>
              <a:defRPr sz="1050" b="1">
                <a:solidFill>
                  <a:srgbClr val="EF4444"/>
                </a:solidFill>
              </a:defRPr>
            </a:pPr>
            <a:r>
              <a:t>• Operational Value</a:t>
            </a:r>
          </a:p>
          <a:p>
            <a:pPr>
              <a:defRPr sz="950">
                <a:solidFill>
                  <a:srgbClr val="F8FAFC"/>
                </a:solidFill>
              </a:defRPr>
            </a:pPr>
            <a:r>
              <a:t>   Detects unauthorized bus detours immediately, preventing fuel waste and missed worker stops.</a:t>
            </a:r>
          </a:p>
        </p:txBody>
      </p:sp>
      <p:sp>
        <p:nvSpPr>
          <p:cNvPr id="10" name="Rounded Rectangle 9"/>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Machine Learning ETA Forecasting</a:t>
            </a:r>
          </a:p>
        </p:txBody>
      </p:sp>
      <p:sp>
        <p:nvSpPr>
          <p:cNvPr id="12" name="TextBox 11"/>
          <p:cNvSpPr txBox="1"/>
          <p:nvPr/>
        </p:nvSpPr>
        <p:spPr>
          <a:xfrm>
            <a:off x="6446520" y="2011680"/>
            <a:ext cx="4754880" cy="3931920"/>
          </a:xfrm>
          <a:prstGeom prst="rect">
            <a:avLst/>
          </a:prstGeom>
          <a:noFill/>
        </p:spPr>
        <p:txBody>
          <a:bodyPr wrap="square">
            <a:spAutoFit/>
          </a:bodyPr>
          <a:lstStyle/>
          <a:p>
            <a:pPr>
              <a:spcBef>
                <a:spcPts val="600"/>
              </a:spcBef>
              <a:defRPr sz="1050" b="1">
                <a:solidFill>
                  <a:srgbClr val="10B981"/>
                </a:solidFill>
              </a:defRPr>
            </a:pPr>
            <a:r>
              <a:t>• Python 3.11 FastAPI Microservice</a:t>
            </a:r>
          </a:p>
          <a:p>
            <a:pPr>
              <a:defRPr sz="950">
                <a:solidFill>
                  <a:srgbClr val="F8FAFC"/>
                </a:solidFill>
              </a:defRPr>
            </a:pPr>
            <a:r>
              <a:t>   Asynchronous microservice hosting trained LightGBM regression models (bus_eta_model.pkl).</a:t>
            </a:r>
          </a:p>
          <a:p>
            <a:pPr>
              <a:spcBef>
                <a:spcPts val="600"/>
              </a:spcBef>
              <a:defRPr sz="1050" b="1">
                <a:solidFill>
                  <a:srgbClr val="10B981"/>
                </a:solidFill>
              </a:defRPr>
            </a:pPr>
            <a:r>
              <a:t>• Predictive Feature Vector</a:t>
            </a:r>
          </a:p>
          <a:p>
            <a:pPr>
              <a:defRPr sz="950">
                <a:solidFill>
                  <a:srgbClr val="F8FAFC"/>
                </a:solidFill>
              </a:defRPr>
            </a:pPr>
            <a:r>
              <a:t>   Inputs: GPS coordinates, vehicle speed, remaining stop distance, stop sequence index, time of day.</a:t>
            </a:r>
          </a:p>
          <a:p>
            <a:pPr>
              <a:spcBef>
                <a:spcPts val="600"/>
              </a:spcBef>
              <a:defRPr sz="1050" b="1">
                <a:solidFill>
                  <a:srgbClr val="10B981"/>
                </a:solidFill>
              </a:defRPr>
            </a:pPr>
            <a:r>
              <a:t>• Sub-50ms Inference Response</a:t>
            </a:r>
          </a:p>
          <a:p>
            <a:pPr>
              <a:defRPr sz="950">
                <a:solidFill>
                  <a:srgbClr val="F8FAFC"/>
                </a:solidFill>
              </a:defRPr>
            </a:pPr>
            <a:r>
              <a:t>   Calculates batch arrival times across all downstream pickup points instantaneously.</a:t>
            </a:r>
          </a:p>
          <a:p>
            <a:pPr>
              <a:spcBef>
                <a:spcPts val="600"/>
              </a:spcBef>
              <a:defRPr sz="1050" b="1">
                <a:solidFill>
                  <a:srgbClr val="10B981"/>
                </a:solidFill>
              </a:defRPr>
            </a:pPr>
            <a:r>
              <a:t>• Fault-Tolerant Fallback</a:t>
            </a:r>
          </a:p>
          <a:p>
            <a:pPr>
              <a:defRPr sz="950">
                <a:solidFill>
                  <a:srgbClr val="F8FAFC"/>
                </a:solidFill>
              </a:defRPr>
            </a:pPr>
            <a:r>
              <a:t>   Gracefully reverts to kinematic distance/speed calculation if ML microservice is offline.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05 | IMPLEMENTATION &amp; REALIZATION</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Full-Stack Technological Stack Selection</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[13]</a:t>
            </a:r>
          </a:p>
        </p:txBody>
      </p:sp>
      <p:sp>
        <p:nvSpPr>
          <p:cNvPr id="7" name="Rounded Rectangle 6"/>
          <p:cNvSpPr/>
          <p:nvPr/>
        </p:nvSpPr>
        <p:spPr>
          <a:xfrm>
            <a:off x="731520" y="1463040"/>
            <a:ext cx="2514600"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057400" cy="365760"/>
          </a:xfrm>
          <a:prstGeom prst="rect">
            <a:avLst/>
          </a:prstGeom>
          <a:noFill/>
        </p:spPr>
        <p:txBody>
          <a:bodyPr wrap="square">
            <a:spAutoFit/>
          </a:bodyPr>
          <a:lstStyle/>
          <a:p>
            <a:pPr>
              <a:defRPr sz="1400" b="1">
                <a:solidFill>
                  <a:srgbClr val="0EA5E9"/>
                </a:solidFill>
                <a:latin typeface="Arial"/>
              </a:defRPr>
            </a:pPr>
            <a:r>
              <a:t>BACKEND TIER</a:t>
            </a:r>
          </a:p>
        </p:txBody>
      </p:sp>
      <p:sp>
        <p:nvSpPr>
          <p:cNvPr id="9" name="TextBox 8"/>
          <p:cNvSpPr txBox="1"/>
          <p:nvPr/>
        </p:nvSpPr>
        <p:spPr>
          <a:xfrm>
            <a:off x="868680" y="2103120"/>
            <a:ext cx="2240280" cy="3840480"/>
          </a:xfrm>
          <a:prstGeom prst="rect">
            <a:avLst/>
          </a:prstGeom>
          <a:noFill/>
        </p:spPr>
        <p:txBody>
          <a:bodyPr wrap="square">
            <a:spAutoFit/>
          </a:bodyPr>
          <a:lstStyle/>
          <a:p>
            <a:pPr>
              <a:spcBef>
                <a:spcPts val="600"/>
              </a:spcBef>
              <a:defRPr sz="1100">
                <a:solidFill>
                  <a:srgbClr val="F8FAFC"/>
                </a:solidFill>
              </a:defRPr>
            </a:pPr>
            <a:r>
              <a:t>• .NET 8 C#</a:t>
            </a:r>
          </a:p>
          <a:p>
            <a:pPr>
              <a:spcBef>
                <a:spcPts val="600"/>
              </a:spcBef>
              <a:defRPr sz="1100">
                <a:solidFill>
                  <a:srgbClr val="F8FAFC"/>
                </a:solidFill>
              </a:defRPr>
            </a:pPr>
            <a:r>
              <a:t>• Carter Minimal APIs</a:t>
            </a:r>
          </a:p>
          <a:p>
            <a:pPr>
              <a:spcBef>
                <a:spcPts val="600"/>
              </a:spcBef>
              <a:defRPr sz="1100">
                <a:solidFill>
                  <a:srgbClr val="F8FAFC"/>
                </a:solidFill>
              </a:defRPr>
            </a:pPr>
            <a:r>
              <a:t>• MediatR (CQRS)</a:t>
            </a:r>
          </a:p>
          <a:p>
            <a:pPr>
              <a:spcBef>
                <a:spcPts val="600"/>
              </a:spcBef>
              <a:defRPr sz="1100">
                <a:solidFill>
                  <a:srgbClr val="F8FAFC"/>
                </a:solidFill>
              </a:defRPr>
            </a:pPr>
            <a:r>
              <a:t>• Entity Framework Core 8</a:t>
            </a:r>
          </a:p>
          <a:p>
            <a:pPr>
              <a:spcBef>
                <a:spcPts val="600"/>
              </a:spcBef>
              <a:defRPr sz="1100">
                <a:solidFill>
                  <a:srgbClr val="F8FAFC"/>
                </a:solidFill>
              </a:defRPr>
            </a:pPr>
            <a:r>
              <a:t>• FluentValidation</a:t>
            </a:r>
          </a:p>
          <a:p>
            <a:pPr>
              <a:spcBef>
                <a:spcPts val="600"/>
              </a:spcBef>
              <a:defRPr sz="1100">
                <a:solidFill>
                  <a:srgbClr val="F8FAFC"/>
                </a:solidFill>
              </a:defRPr>
            </a:pPr>
            <a:r>
              <a:t>• JWT Bearer Security</a:t>
            </a:r>
          </a:p>
        </p:txBody>
      </p:sp>
      <p:sp>
        <p:nvSpPr>
          <p:cNvPr id="10" name="Rounded Rectangle 9"/>
          <p:cNvSpPr/>
          <p:nvPr/>
        </p:nvSpPr>
        <p:spPr>
          <a:xfrm>
            <a:off x="3429000" y="1463040"/>
            <a:ext cx="2514600"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645920"/>
            <a:ext cx="2057400" cy="365760"/>
          </a:xfrm>
          <a:prstGeom prst="rect">
            <a:avLst/>
          </a:prstGeom>
          <a:noFill/>
        </p:spPr>
        <p:txBody>
          <a:bodyPr wrap="square">
            <a:spAutoFit/>
          </a:bodyPr>
          <a:lstStyle/>
          <a:p>
            <a:pPr>
              <a:defRPr sz="1400" b="1">
                <a:solidFill>
                  <a:srgbClr val="0EA5E9"/>
                </a:solidFill>
                <a:latin typeface="Arial"/>
              </a:defRPr>
            </a:pPr>
            <a:r>
              <a:t>FRONTEND TIER</a:t>
            </a:r>
          </a:p>
        </p:txBody>
      </p:sp>
      <p:sp>
        <p:nvSpPr>
          <p:cNvPr id="12" name="TextBox 11"/>
          <p:cNvSpPr txBox="1"/>
          <p:nvPr/>
        </p:nvSpPr>
        <p:spPr>
          <a:xfrm>
            <a:off x="3566160" y="2103120"/>
            <a:ext cx="2240280" cy="3840480"/>
          </a:xfrm>
          <a:prstGeom prst="rect">
            <a:avLst/>
          </a:prstGeom>
          <a:noFill/>
        </p:spPr>
        <p:txBody>
          <a:bodyPr wrap="square">
            <a:spAutoFit/>
          </a:bodyPr>
          <a:lstStyle/>
          <a:p>
            <a:pPr>
              <a:spcBef>
                <a:spcPts val="600"/>
              </a:spcBef>
              <a:defRPr sz="1100">
                <a:solidFill>
                  <a:srgbClr val="F8FAFC"/>
                </a:solidFill>
              </a:defRPr>
            </a:pPr>
            <a:r>
              <a:t>• Angular 18 SPA</a:t>
            </a:r>
          </a:p>
          <a:p>
            <a:pPr>
              <a:spcBef>
                <a:spcPts val="600"/>
              </a:spcBef>
              <a:defRPr sz="1100">
                <a:solidFill>
                  <a:srgbClr val="F8FAFC"/>
                </a:solidFill>
              </a:defRPr>
            </a:pPr>
            <a:r>
              <a:t>• TypeScript</a:t>
            </a:r>
          </a:p>
          <a:p>
            <a:pPr>
              <a:spcBef>
                <a:spcPts val="600"/>
              </a:spcBef>
              <a:defRPr sz="1100">
                <a:solidFill>
                  <a:srgbClr val="F8FAFC"/>
                </a:solidFill>
              </a:defRPr>
            </a:pPr>
            <a:r>
              <a:t>• Tailwind CSS</a:t>
            </a:r>
          </a:p>
          <a:p>
            <a:pPr>
              <a:spcBef>
                <a:spcPts val="600"/>
              </a:spcBef>
              <a:defRPr sz="1100">
                <a:solidFill>
                  <a:srgbClr val="F8FAFC"/>
                </a:solidFill>
              </a:defRPr>
            </a:pPr>
            <a:r>
              <a:t>• Leaflet.js Cartography</a:t>
            </a:r>
          </a:p>
          <a:p>
            <a:pPr>
              <a:spcBef>
                <a:spcPts val="600"/>
              </a:spcBef>
              <a:defRPr sz="1100">
                <a:solidFill>
                  <a:srgbClr val="F8FAFC"/>
                </a:solidFill>
              </a:defRPr>
            </a:pPr>
            <a:r>
              <a:t>• DevExtreme DataGrids</a:t>
            </a:r>
          </a:p>
          <a:p>
            <a:pPr>
              <a:spcBef>
                <a:spcPts val="600"/>
              </a:spcBef>
              <a:defRPr sz="1100">
                <a:solidFill>
                  <a:srgbClr val="F8FAFC"/>
                </a:solidFill>
              </a:defRPr>
            </a:pPr>
            <a:r>
              <a:t>• ngx-translate (6 Langs + RTL)</a:t>
            </a:r>
          </a:p>
        </p:txBody>
      </p:sp>
      <p:sp>
        <p:nvSpPr>
          <p:cNvPr id="13" name="Rounded Rectangle 12"/>
          <p:cNvSpPr/>
          <p:nvPr/>
        </p:nvSpPr>
        <p:spPr>
          <a:xfrm>
            <a:off x="6126480" y="1463040"/>
            <a:ext cx="2514600" cy="46634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645920"/>
            <a:ext cx="2057400" cy="365760"/>
          </a:xfrm>
          <a:prstGeom prst="rect">
            <a:avLst/>
          </a:prstGeom>
          <a:noFill/>
        </p:spPr>
        <p:txBody>
          <a:bodyPr wrap="square">
            <a:spAutoFit/>
          </a:bodyPr>
          <a:lstStyle/>
          <a:p>
            <a:pPr>
              <a:defRPr sz="1400" b="1">
                <a:solidFill>
                  <a:srgbClr val="0EA5E9"/>
                </a:solidFill>
                <a:latin typeface="Arial"/>
              </a:defRPr>
            </a:pPr>
            <a:r>
              <a:t>AI / ML SERVICE</a:t>
            </a:r>
          </a:p>
        </p:txBody>
      </p:sp>
      <p:sp>
        <p:nvSpPr>
          <p:cNvPr id="15" name="TextBox 14"/>
          <p:cNvSpPr txBox="1"/>
          <p:nvPr/>
        </p:nvSpPr>
        <p:spPr>
          <a:xfrm>
            <a:off x="6263640" y="2103120"/>
            <a:ext cx="2240280" cy="3840480"/>
          </a:xfrm>
          <a:prstGeom prst="rect">
            <a:avLst/>
          </a:prstGeom>
          <a:noFill/>
        </p:spPr>
        <p:txBody>
          <a:bodyPr wrap="square">
            <a:spAutoFit/>
          </a:bodyPr>
          <a:lstStyle/>
          <a:p>
            <a:pPr>
              <a:spcBef>
                <a:spcPts val="600"/>
              </a:spcBef>
              <a:defRPr sz="1100">
                <a:solidFill>
                  <a:srgbClr val="F8FAFC"/>
                </a:solidFill>
              </a:defRPr>
            </a:pPr>
            <a:r>
              <a:t>• Python 3.11</a:t>
            </a:r>
          </a:p>
          <a:p>
            <a:pPr>
              <a:spcBef>
                <a:spcPts val="600"/>
              </a:spcBef>
              <a:defRPr sz="1100">
                <a:solidFill>
                  <a:srgbClr val="F8FAFC"/>
                </a:solidFill>
              </a:defRPr>
            </a:pPr>
            <a:r>
              <a:t>• FastAPI / Uvicorn</a:t>
            </a:r>
          </a:p>
          <a:p>
            <a:pPr>
              <a:spcBef>
                <a:spcPts val="600"/>
              </a:spcBef>
              <a:defRPr sz="1100">
                <a:solidFill>
                  <a:srgbClr val="F8FAFC"/>
                </a:solidFill>
              </a:defRPr>
            </a:pPr>
            <a:r>
              <a:t>• LightGBM &amp; Scikit-Learn</a:t>
            </a:r>
          </a:p>
          <a:p>
            <a:pPr>
              <a:spcBef>
                <a:spcPts val="600"/>
              </a:spcBef>
              <a:defRPr sz="1100">
                <a:solidFill>
                  <a:srgbClr val="F8FAFC"/>
                </a:solidFill>
              </a:defRPr>
            </a:pPr>
            <a:r>
              <a:t>• Pandas &amp; NumPy</a:t>
            </a:r>
          </a:p>
          <a:p>
            <a:pPr>
              <a:spcBef>
                <a:spcPts val="600"/>
              </a:spcBef>
              <a:defRPr sz="1100">
                <a:solidFill>
                  <a:srgbClr val="F8FAFC"/>
                </a:solidFill>
              </a:defRPr>
            </a:pPr>
            <a:r>
              <a:t>• Joblib Serializer</a:t>
            </a:r>
          </a:p>
          <a:p>
            <a:pPr>
              <a:spcBef>
                <a:spcPts val="600"/>
              </a:spcBef>
              <a:defRPr sz="1100">
                <a:solidFill>
                  <a:srgbClr val="F8FAFC"/>
                </a:solidFill>
              </a:defRPr>
            </a:pPr>
            <a:r>
              <a:t>• Haversine Spatial Lib</a:t>
            </a:r>
          </a:p>
        </p:txBody>
      </p:sp>
      <p:sp>
        <p:nvSpPr>
          <p:cNvPr id="16" name="Rounded Rectangle 15"/>
          <p:cNvSpPr/>
          <p:nvPr/>
        </p:nvSpPr>
        <p:spPr>
          <a:xfrm>
            <a:off x="8823960" y="1463040"/>
            <a:ext cx="2514600" cy="46634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60" y="1645920"/>
            <a:ext cx="2057400" cy="365760"/>
          </a:xfrm>
          <a:prstGeom prst="rect">
            <a:avLst/>
          </a:prstGeom>
          <a:noFill/>
        </p:spPr>
        <p:txBody>
          <a:bodyPr wrap="square">
            <a:spAutoFit/>
          </a:bodyPr>
          <a:lstStyle/>
          <a:p>
            <a:pPr>
              <a:defRPr sz="1400" b="1">
                <a:solidFill>
                  <a:srgbClr val="0EA5E9"/>
                </a:solidFill>
                <a:latin typeface="Arial"/>
              </a:defRPr>
            </a:pPr>
            <a:r>
              <a:t>PERSISTENCE &amp; DEVOPS</a:t>
            </a:r>
          </a:p>
        </p:txBody>
      </p:sp>
      <p:sp>
        <p:nvSpPr>
          <p:cNvPr id="18" name="TextBox 17"/>
          <p:cNvSpPr txBox="1"/>
          <p:nvPr/>
        </p:nvSpPr>
        <p:spPr>
          <a:xfrm>
            <a:off x="8961120" y="2103120"/>
            <a:ext cx="2240280" cy="3840480"/>
          </a:xfrm>
          <a:prstGeom prst="rect">
            <a:avLst/>
          </a:prstGeom>
          <a:noFill/>
        </p:spPr>
        <p:txBody>
          <a:bodyPr wrap="square">
            <a:spAutoFit/>
          </a:bodyPr>
          <a:lstStyle/>
          <a:p>
            <a:pPr>
              <a:spcBef>
                <a:spcPts val="600"/>
              </a:spcBef>
              <a:defRPr sz="1100">
                <a:solidFill>
                  <a:srgbClr val="F8FAFC"/>
                </a:solidFill>
              </a:defRPr>
            </a:pPr>
            <a:r>
              <a:t>• Microsoft SQL Server 2019</a:t>
            </a:r>
          </a:p>
          <a:p>
            <a:pPr>
              <a:spcBef>
                <a:spcPts val="600"/>
              </a:spcBef>
              <a:defRPr sz="1100">
                <a:solidFill>
                  <a:srgbClr val="F8FAFC"/>
                </a:solidFill>
              </a:defRPr>
            </a:pPr>
            <a:r>
              <a:t>• Docker &amp; Docker Compose</a:t>
            </a:r>
          </a:p>
          <a:p>
            <a:pPr>
              <a:spcBef>
                <a:spcPts val="600"/>
              </a:spcBef>
              <a:defRPr sz="1100">
                <a:solidFill>
                  <a:srgbClr val="F8FAFC"/>
                </a:solidFill>
              </a:defRPr>
            </a:pPr>
            <a:r>
              <a:t>• Nginx Reverse Proxy</a:t>
            </a:r>
          </a:p>
          <a:p>
            <a:pPr>
              <a:spcBef>
                <a:spcPts val="600"/>
              </a:spcBef>
              <a:defRPr sz="1100">
                <a:solidFill>
                  <a:srgbClr val="F8FAFC"/>
                </a:solidFill>
              </a:defRPr>
            </a:pPr>
            <a:r>
              <a:t>• Git / GitHub Actions</a:t>
            </a:r>
          </a:p>
          <a:p>
            <a:pPr>
              <a:spcBef>
                <a:spcPts val="600"/>
              </a:spcBef>
              <a:defRPr sz="1100">
                <a:solidFill>
                  <a:srgbClr val="F8FAFC"/>
                </a:solidFill>
              </a:defRPr>
            </a:pPr>
            <a:r>
              <a:t>• QuestPDF &amp; DinkToPdf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05 | IMPLEMENTATION &amp; REALIZATION</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Relational Domain Model &amp; Multi-Tenant Data Schema</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[14]</a:t>
            </a:r>
          </a:p>
        </p:txBody>
      </p:sp>
      <p:sp>
        <p:nvSpPr>
          <p:cNvPr id="7" name="Rounded Rectangle 6"/>
          <p:cNvSpPr/>
          <p:nvPr/>
        </p:nvSpPr>
        <p:spPr>
          <a:xfrm>
            <a:off x="731520" y="1463040"/>
            <a:ext cx="10698480" cy="868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10241280" cy="365760"/>
          </a:xfrm>
          <a:prstGeom prst="rect">
            <a:avLst/>
          </a:prstGeom>
          <a:noFill/>
        </p:spPr>
        <p:txBody>
          <a:bodyPr wrap="square">
            <a:spAutoFit/>
          </a:bodyPr>
          <a:lstStyle/>
          <a:p>
            <a:pPr>
              <a:defRPr sz="1400" b="1">
                <a:solidFill>
                  <a:srgbClr val="0EA5E9"/>
                </a:solidFill>
                <a:latin typeface="Arial"/>
              </a:defRPr>
            </a:pPr>
            <a:r>
              <a:t>🏢 Tenant &amp; Identity Cluster</a:t>
            </a:r>
          </a:p>
        </p:txBody>
      </p:sp>
      <p:sp>
        <p:nvSpPr>
          <p:cNvPr id="9" name="TextBox 8"/>
          <p:cNvSpPr txBox="1"/>
          <p:nvPr/>
        </p:nvSpPr>
        <p:spPr>
          <a:xfrm>
            <a:off x="960120" y="1874520"/>
            <a:ext cx="10241280" cy="411480"/>
          </a:xfrm>
          <a:prstGeom prst="rect">
            <a:avLst/>
          </a:prstGeom>
          <a:noFill/>
        </p:spPr>
        <p:txBody>
          <a:bodyPr wrap="square">
            <a:spAutoFit/>
          </a:bodyPr>
          <a:lstStyle/>
          <a:p>
            <a:pPr>
              <a:defRPr sz="1000">
                <a:solidFill>
                  <a:srgbClr val="F8FAFC"/>
                </a:solidFill>
              </a:defRPr>
            </a:pPr>
            <a:r>
              <a:t>Entities: Societe, AppUser, Role, ScreenPermission, ActionPermission.</a:t>
            </a:r>
            <a:br/>
            <a:r>
              <a:t>Guarantees tenant boundaries via foreign key SocieteId and dynamic RBAC matrix.</a:t>
            </a:r>
          </a:p>
        </p:txBody>
      </p:sp>
      <p:sp>
        <p:nvSpPr>
          <p:cNvPr id="10" name="Rounded Rectangle 9"/>
          <p:cNvSpPr/>
          <p:nvPr/>
        </p:nvSpPr>
        <p:spPr>
          <a:xfrm>
            <a:off x="731520" y="2423160"/>
            <a:ext cx="10698480" cy="868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06040"/>
            <a:ext cx="10241280" cy="365760"/>
          </a:xfrm>
          <a:prstGeom prst="rect">
            <a:avLst/>
          </a:prstGeom>
          <a:noFill/>
        </p:spPr>
        <p:txBody>
          <a:bodyPr wrap="square">
            <a:spAutoFit/>
          </a:bodyPr>
          <a:lstStyle/>
          <a:p>
            <a:pPr>
              <a:defRPr sz="1400" b="1">
                <a:solidFill>
                  <a:srgbClr val="0EA5E9"/>
                </a:solidFill>
                <a:latin typeface="Arial"/>
              </a:defRPr>
            </a:pPr>
            <a:r>
              <a:t>🚌 Fleet &amp; Hardware Cluster</a:t>
            </a:r>
          </a:p>
        </p:txBody>
      </p:sp>
      <p:sp>
        <p:nvSpPr>
          <p:cNvPr id="12" name="TextBox 11"/>
          <p:cNvSpPr txBox="1"/>
          <p:nvPr/>
        </p:nvSpPr>
        <p:spPr>
          <a:xfrm>
            <a:off x="960120" y="2834640"/>
            <a:ext cx="10241280" cy="411480"/>
          </a:xfrm>
          <a:prstGeom prst="rect">
            <a:avLst/>
          </a:prstGeom>
          <a:noFill/>
        </p:spPr>
        <p:txBody>
          <a:bodyPr wrap="square">
            <a:spAutoFit/>
          </a:bodyPr>
          <a:lstStyle/>
          <a:p>
            <a:pPr>
              <a:defRPr sz="1000">
                <a:solidFill>
                  <a:srgbClr val="F8FAFC"/>
                </a:solidFill>
              </a:defRPr>
            </a:pPr>
            <a:r>
              <a:t>Entities: Bus, Chauffeur, Modem (IMEI pairing), DeviceTelemetry, GpsCoordinate.</a:t>
            </a:r>
            <a:br/>
            <a:r>
              <a:t>Records vehicle specifications, driver badge pairings, and telemetry streams.</a:t>
            </a:r>
          </a:p>
        </p:txBody>
      </p:sp>
      <p:sp>
        <p:nvSpPr>
          <p:cNvPr id="13" name="Rounded Rectangle 12"/>
          <p:cNvSpPr/>
          <p:nvPr/>
        </p:nvSpPr>
        <p:spPr>
          <a:xfrm>
            <a:off x="731520" y="3383280"/>
            <a:ext cx="10698480" cy="868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566160"/>
            <a:ext cx="10241280" cy="365760"/>
          </a:xfrm>
          <a:prstGeom prst="rect">
            <a:avLst/>
          </a:prstGeom>
          <a:noFill/>
        </p:spPr>
        <p:txBody>
          <a:bodyPr wrap="square">
            <a:spAutoFit/>
          </a:bodyPr>
          <a:lstStyle/>
          <a:p>
            <a:pPr>
              <a:defRPr sz="1400" b="1">
                <a:solidFill>
                  <a:srgbClr val="0EA5E9"/>
                </a:solidFill>
                <a:latin typeface="Arial"/>
              </a:defRPr>
            </a:pPr>
            <a:r>
              <a:t>🗺️ Logistics &amp; Routing Cluster</a:t>
            </a:r>
          </a:p>
        </p:txBody>
      </p:sp>
      <p:sp>
        <p:nvSpPr>
          <p:cNvPr id="15" name="TextBox 14"/>
          <p:cNvSpPr txBox="1"/>
          <p:nvPr/>
        </p:nvSpPr>
        <p:spPr>
          <a:xfrm>
            <a:off x="960120" y="3794760"/>
            <a:ext cx="10241280" cy="411480"/>
          </a:xfrm>
          <a:prstGeom prst="rect">
            <a:avLst/>
          </a:prstGeom>
          <a:noFill/>
        </p:spPr>
        <p:txBody>
          <a:bodyPr wrap="square">
            <a:spAutoFit/>
          </a:bodyPr>
          <a:lstStyle/>
          <a:p>
            <a:pPr>
              <a:defRPr sz="1000">
                <a:solidFill>
                  <a:srgbClr val="F8FAFC"/>
                </a:solidFill>
              </a:defRPr>
            </a:pPr>
            <a:r>
              <a:t>Entities: Circuit, PointCollecte (Geocoded &amp; Ordered), Trajet.</a:t>
            </a:r>
            <a:br/>
            <a:r>
              <a:t>Maintains pickup sequences, target distances, and expected stop durations.</a:t>
            </a:r>
          </a:p>
        </p:txBody>
      </p:sp>
      <p:sp>
        <p:nvSpPr>
          <p:cNvPr id="16" name="Rounded Rectangle 15"/>
          <p:cNvSpPr/>
          <p:nvPr/>
        </p:nvSpPr>
        <p:spPr>
          <a:xfrm>
            <a:off x="731520" y="4343400"/>
            <a:ext cx="10698480" cy="868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526280"/>
            <a:ext cx="10241280" cy="365760"/>
          </a:xfrm>
          <a:prstGeom prst="rect">
            <a:avLst/>
          </a:prstGeom>
          <a:noFill/>
        </p:spPr>
        <p:txBody>
          <a:bodyPr wrap="square">
            <a:spAutoFit/>
          </a:bodyPr>
          <a:lstStyle/>
          <a:p>
            <a:pPr>
              <a:defRPr sz="1400" b="1">
                <a:solidFill>
                  <a:srgbClr val="0EA5E9"/>
                </a:solidFill>
                <a:latin typeface="Arial"/>
              </a:defRPr>
            </a:pPr>
            <a:r>
              <a:t>👥 Workforce &amp; Shift Cluster</a:t>
            </a:r>
          </a:p>
        </p:txBody>
      </p:sp>
      <p:sp>
        <p:nvSpPr>
          <p:cNvPr id="18" name="TextBox 17"/>
          <p:cNvSpPr txBox="1"/>
          <p:nvPr/>
        </p:nvSpPr>
        <p:spPr>
          <a:xfrm>
            <a:off x="960120" y="4754880"/>
            <a:ext cx="10241280" cy="411480"/>
          </a:xfrm>
          <a:prstGeom prst="rect">
            <a:avLst/>
          </a:prstGeom>
          <a:noFill/>
        </p:spPr>
        <p:txBody>
          <a:bodyPr wrap="square">
            <a:spAutoFit/>
          </a:bodyPr>
          <a:lstStyle/>
          <a:p>
            <a:pPr>
              <a:defRPr sz="1000">
                <a:solidFill>
                  <a:srgbClr val="F8FAFC"/>
                </a:solidFill>
              </a:defRPr>
            </a:pPr>
            <a:r>
              <a:t>Entities: Employe, BadgeRFID, Shift, Equipe, Chantier (Work Order).</a:t>
            </a:r>
            <a:br/>
            <a:r>
              <a:t>Maps factory workers to shifts, pickup points, and scheduled work orders.</a:t>
            </a:r>
          </a:p>
        </p:txBody>
      </p:sp>
      <p:sp>
        <p:nvSpPr>
          <p:cNvPr id="19" name="Rounded Rectangle 18"/>
          <p:cNvSpPr/>
          <p:nvPr/>
        </p:nvSpPr>
        <p:spPr>
          <a:xfrm>
            <a:off x="731520" y="5303520"/>
            <a:ext cx="10698480" cy="868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486400"/>
            <a:ext cx="10241280" cy="365760"/>
          </a:xfrm>
          <a:prstGeom prst="rect">
            <a:avLst/>
          </a:prstGeom>
          <a:noFill/>
        </p:spPr>
        <p:txBody>
          <a:bodyPr wrap="square">
            <a:spAutoFit/>
          </a:bodyPr>
          <a:lstStyle/>
          <a:p>
            <a:pPr>
              <a:defRPr sz="1400" b="1">
                <a:solidFill>
                  <a:srgbClr val="0EA5E9"/>
                </a:solidFill>
                <a:latin typeface="Arial"/>
              </a:defRPr>
            </a:pPr>
            <a:r>
              <a:t>📊 Analytics &amp; Layouts Cluster</a:t>
            </a:r>
          </a:p>
        </p:txBody>
      </p:sp>
      <p:sp>
        <p:nvSpPr>
          <p:cNvPr id="21" name="TextBox 20"/>
          <p:cNvSpPr txBox="1"/>
          <p:nvPr/>
        </p:nvSpPr>
        <p:spPr>
          <a:xfrm>
            <a:off x="960120" y="5715000"/>
            <a:ext cx="10241280" cy="411480"/>
          </a:xfrm>
          <a:prstGeom prst="rect">
            <a:avLst/>
          </a:prstGeom>
          <a:noFill/>
        </p:spPr>
        <p:txBody>
          <a:bodyPr wrap="square">
            <a:spAutoFit/>
          </a:bodyPr>
          <a:lstStyle/>
          <a:p>
            <a:pPr>
              <a:defRPr sz="1000">
                <a:solidFill>
                  <a:srgbClr val="F8FAFC"/>
                </a:solidFill>
              </a:defRPr>
            </a:pPr>
            <a:r>
              <a:t>Entities: ReportLayout, AnalyseQuery.</a:t>
            </a:r>
            <a:br/>
            <a:r>
              <a:t>Stores user-customized datagrid layouts, column grouping, and export preferences.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06 | SYSTEM SHOWCASE &amp; LIVE DEMO</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Showcase: Real-Time Cartographic Fleet Supervision</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[15]</a:t>
            </a:r>
          </a:p>
        </p:txBody>
      </p:sp>
      <p:sp>
        <p:nvSpPr>
          <p:cNvPr id="7" name="Rounded Rectangle 6"/>
          <p:cNvSpPr/>
          <p:nvPr/>
        </p:nvSpPr>
        <p:spPr>
          <a:xfrm>
            <a:off x="731520" y="1463040"/>
            <a:ext cx="6217920"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5760720" cy="365760"/>
          </a:xfrm>
          <a:prstGeom prst="rect">
            <a:avLst/>
          </a:prstGeom>
          <a:noFill/>
        </p:spPr>
        <p:txBody>
          <a:bodyPr wrap="square">
            <a:spAutoFit/>
          </a:bodyPr>
          <a:lstStyle/>
          <a:p>
            <a:pPr>
              <a:defRPr sz="1400" b="1">
                <a:solidFill>
                  <a:srgbClr val="0EA5E9"/>
                </a:solidFill>
                <a:latin typeface="Arial"/>
              </a:defRPr>
            </a:pPr>
            <a:r>
              <a:t>🗺️ Live Cartography Screen (Leaflet.js)</a:t>
            </a:r>
          </a:p>
        </p:txBody>
      </p:sp>
      <p:sp>
        <p:nvSpPr>
          <p:cNvPr id="9" name="TextBox 8"/>
          <p:cNvSpPr txBox="1"/>
          <p:nvPr/>
        </p:nvSpPr>
        <p:spPr>
          <a:xfrm>
            <a:off x="960120" y="2194560"/>
            <a:ext cx="5760720" cy="3657600"/>
          </a:xfrm>
          <a:prstGeom prst="rect">
            <a:avLst/>
          </a:prstGeom>
          <a:noFill/>
        </p:spPr>
        <p:txBody>
          <a:bodyPr wrap="square">
            <a:spAutoFit/>
          </a:bodyPr>
          <a:lstStyle/>
          <a:p>
            <a:pPr>
              <a:defRPr sz="1200">
                <a:solidFill>
                  <a:srgbClr val="BAE6FD"/>
                </a:solidFill>
              </a:defRPr>
            </a:pPr>
            <a:r>
              <a:t>[ LIVE MAP INTERFACE ]</a:t>
            </a:r>
            <a:br/>
            <a:br/>
            <a:r>
              <a:t>• High-definition OpenStreetMap / Maplibre tiles</a:t>
            </a:r>
            <a:br/>
            <a:r>
              <a:t>• Dynamic SVG vehicle markers with live rotation angle</a:t>
            </a:r>
            <a:br/>
            <a:r>
              <a:t>• Interactive route polylines &amp; geofenced stop radii</a:t>
            </a:r>
            <a:br/>
            <a:r>
              <a:t>• Real-time status cards: 'En Route', 'Stopped', 'Offline'</a:t>
            </a:r>
            <a:br/>
            <a:r>
              <a:t>• Visual detour alert banner when offset &gt; 250m</a:t>
            </a:r>
          </a:p>
        </p:txBody>
      </p:sp>
      <p:sp>
        <p:nvSpPr>
          <p:cNvPr id="10" name="Rounded Rectangle 9"/>
          <p:cNvSpPr/>
          <p:nvPr/>
        </p:nvSpPr>
        <p:spPr>
          <a:xfrm>
            <a:off x="7223760" y="1463040"/>
            <a:ext cx="4206240" cy="13716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1645920"/>
            <a:ext cx="3749039" cy="365760"/>
          </a:xfrm>
          <a:prstGeom prst="rect">
            <a:avLst/>
          </a:prstGeom>
          <a:noFill/>
        </p:spPr>
        <p:txBody>
          <a:bodyPr wrap="square">
            <a:spAutoFit/>
          </a:bodyPr>
          <a:lstStyle/>
          <a:p>
            <a:pPr>
              <a:defRPr sz="1400" b="1">
                <a:solidFill>
                  <a:srgbClr val="0EA5E9"/>
                </a:solidFill>
                <a:latin typeface="Arial"/>
              </a:defRPr>
            </a:pPr>
            <a:r>
              <a:t>📡 Sub-Second GPS Updates</a:t>
            </a:r>
          </a:p>
        </p:txBody>
      </p:sp>
      <p:sp>
        <p:nvSpPr>
          <p:cNvPr id="12" name="TextBox 11"/>
          <p:cNvSpPr txBox="1"/>
          <p:nvPr/>
        </p:nvSpPr>
        <p:spPr>
          <a:xfrm>
            <a:off x="7406640" y="1965960"/>
            <a:ext cx="3840480" cy="777240"/>
          </a:xfrm>
          <a:prstGeom prst="rect">
            <a:avLst/>
          </a:prstGeom>
          <a:noFill/>
        </p:spPr>
        <p:txBody>
          <a:bodyPr wrap="square">
            <a:spAutoFit/>
          </a:bodyPr>
          <a:lstStyle/>
          <a:p>
            <a:pPr>
              <a:defRPr sz="1050">
                <a:solidFill>
                  <a:srgbClr val="F8FAFC"/>
                </a:solidFill>
              </a:defRPr>
            </a:pPr>
            <a:r>
              <a:t>Telemetry packets ingested &amp; mapped with zero UI stuttering.</a:t>
            </a:r>
          </a:p>
        </p:txBody>
      </p:sp>
      <p:sp>
        <p:nvSpPr>
          <p:cNvPr id="13" name="Rounded Rectangle 12"/>
          <p:cNvSpPr/>
          <p:nvPr/>
        </p:nvSpPr>
        <p:spPr>
          <a:xfrm>
            <a:off x="7223760" y="3017520"/>
            <a:ext cx="4206240" cy="13716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3200400"/>
            <a:ext cx="3749039" cy="365760"/>
          </a:xfrm>
          <a:prstGeom prst="rect">
            <a:avLst/>
          </a:prstGeom>
          <a:noFill/>
        </p:spPr>
        <p:txBody>
          <a:bodyPr wrap="square">
            <a:spAutoFit/>
          </a:bodyPr>
          <a:lstStyle/>
          <a:p>
            <a:pPr>
              <a:defRPr sz="1400" b="1">
                <a:solidFill>
                  <a:srgbClr val="0EA5E9"/>
                </a:solidFill>
                <a:latin typeface="Arial"/>
              </a:defRPr>
            </a:pPr>
            <a:r>
              <a:t>⚠️ Instant 250m Detour Banner</a:t>
            </a:r>
          </a:p>
        </p:txBody>
      </p:sp>
      <p:sp>
        <p:nvSpPr>
          <p:cNvPr id="15" name="TextBox 14"/>
          <p:cNvSpPr txBox="1"/>
          <p:nvPr/>
        </p:nvSpPr>
        <p:spPr>
          <a:xfrm>
            <a:off x="7406640" y="3520439"/>
            <a:ext cx="3840480" cy="777240"/>
          </a:xfrm>
          <a:prstGeom prst="rect">
            <a:avLst/>
          </a:prstGeom>
          <a:noFill/>
        </p:spPr>
        <p:txBody>
          <a:bodyPr wrap="square">
            <a:spAutoFit/>
          </a:bodyPr>
          <a:lstStyle/>
          <a:p>
            <a:pPr>
              <a:defRPr sz="1050">
                <a:solidFill>
                  <a:srgbClr val="F8FAFC"/>
                </a:solidFill>
              </a:defRPr>
            </a:pPr>
            <a:r>
              <a:t>Automated alert highlighting unauthorized route deviations.</a:t>
            </a:r>
          </a:p>
        </p:txBody>
      </p:sp>
      <p:sp>
        <p:nvSpPr>
          <p:cNvPr id="16" name="Rounded Rectangle 15"/>
          <p:cNvSpPr/>
          <p:nvPr/>
        </p:nvSpPr>
        <p:spPr>
          <a:xfrm>
            <a:off x="7223760" y="4572000"/>
            <a:ext cx="4206240" cy="13716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4754880"/>
            <a:ext cx="3749039" cy="365760"/>
          </a:xfrm>
          <a:prstGeom prst="rect">
            <a:avLst/>
          </a:prstGeom>
          <a:noFill/>
        </p:spPr>
        <p:txBody>
          <a:bodyPr wrap="square">
            <a:spAutoFit/>
          </a:bodyPr>
          <a:lstStyle/>
          <a:p>
            <a:pPr>
              <a:defRPr sz="1400" b="1">
                <a:solidFill>
                  <a:srgbClr val="0EA5E9"/>
                </a:solidFill>
                <a:latin typeface="Arial"/>
              </a:defRPr>
            </a:pPr>
            <a:r>
              <a:t>📜 Real-Time Event Timeline</a:t>
            </a:r>
          </a:p>
        </p:txBody>
      </p:sp>
      <p:sp>
        <p:nvSpPr>
          <p:cNvPr id="18" name="TextBox 17"/>
          <p:cNvSpPr txBox="1"/>
          <p:nvPr/>
        </p:nvSpPr>
        <p:spPr>
          <a:xfrm>
            <a:off x="7406640" y="5074920"/>
            <a:ext cx="3840480" cy="777240"/>
          </a:xfrm>
          <a:prstGeom prst="rect">
            <a:avLst/>
          </a:prstGeom>
          <a:noFill/>
        </p:spPr>
        <p:txBody>
          <a:bodyPr wrap="square">
            <a:spAutoFit/>
          </a:bodyPr>
          <a:lstStyle/>
          <a:p>
            <a:pPr>
              <a:defRPr sz="1050">
                <a:solidFill>
                  <a:srgbClr val="F8FAFC"/>
                </a:solidFill>
              </a:defRPr>
            </a:pPr>
            <a:r>
              <a:t>Chronological drawer logging stops, boardings &amp; device health.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06 | SYSTEM SHOWCASE &amp; LIVE DEMO</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Showcase: Circuit Planning &amp; RFID Worker Pointage</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[16]</a:t>
            </a:r>
          </a:p>
        </p:txBody>
      </p:sp>
      <p:sp>
        <p:nvSpPr>
          <p:cNvPr id="7" name="Rounded Rectangle 6"/>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Circuit &amp; Stop Logistics Planner</a:t>
            </a:r>
          </a:p>
        </p:txBody>
      </p:sp>
      <p:sp>
        <p:nvSpPr>
          <p:cNvPr id="9" name="TextBox 8"/>
          <p:cNvSpPr txBox="1"/>
          <p:nvPr/>
        </p:nvSpPr>
        <p:spPr>
          <a:xfrm>
            <a:off x="960120" y="2011680"/>
            <a:ext cx="4754880" cy="3931920"/>
          </a:xfrm>
          <a:prstGeom prst="rect">
            <a:avLst/>
          </a:prstGeom>
          <a:noFill/>
        </p:spPr>
        <p:txBody>
          <a:bodyPr wrap="square">
            <a:spAutoFit/>
          </a:bodyPr>
          <a:lstStyle/>
          <a:p>
            <a:pPr>
              <a:spcBef>
                <a:spcPts val="800"/>
              </a:spcBef>
              <a:defRPr sz="1100" b="1">
                <a:solidFill>
                  <a:srgbClr val="0EA5E9"/>
                </a:solidFill>
              </a:defRPr>
            </a:pPr>
            <a:r>
              <a:t>• Visual Circuit Builder</a:t>
            </a:r>
          </a:p>
          <a:p>
            <a:pPr>
              <a:defRPr sz="1000">
                <a:solidFill>
                  <a:srgbClr val="F8FAFC"/>
                </a:solidFill>
              </a:defRPr>
            </a:pPr>
            <a:r>
              <a:t>   Interactive map route plotting with waypoint geocoding and total distance/duration calculation.</a:t>
            </a:r>
          </a:p>
          <a:p>
            <a:pPr>
              <a:spcBef>
                <a:spcPts val="800"/>
              </a:spcBef>
              <a:defRPr sz="1100" b="1">
                <a:solidFill>
                  <a:srgbClr val="0EA5E9"/>
                </a:solidFill>
              </a:defRPr>
            </a:pPr>
            <a:r>
              <a:t>• Ordered Pickup Sequencing</a:t>
            </a:r>
          </a:p>
          <a:p>
            <a:pPr>
              <a:defRPr sz="1000">
                <a:solidFill>
                  <a:srgbClr val="F8FAFC"/>
                </a:solidFill>
              </a:defRPr>
            </a:pPr>
            <a:r>
              <a:t>   Drag-and-drop sequencing of pickup checkpoints with scheduled arrival target windows.</a:t>
            </a:r>
          </a:p>
          <a:p>
            <a:pPr>
              <a:spcBef>
                <a:spcPts val="800"/>
              </a:spcBef>
              <a:defRPr sz="1100" b="1">
                <a:solidFill>
                  <a:srgbClr val="0EA5E9"/>
                </a:solidFill>
              </a:defRPr>
            </a:pPr>
            <a:r>
              <a:t>• Shift &amp; Resource Assignment</a:t>
            </a:r>
          </a:p>
          <a:p>
            <a:pPr>
              <a:defRPr sz="1000">
                <a:solidFill>
                  <a:srgbClr val="F8FAFC"/>
                </a:solidFill>
              </a:defRPr>
            </a:pPr>
            <a:r>
              <a:t>   Assigns specific vehicles, certified drivers, and work shifts to logistical circuits.</a:t>
            </a:r>
          </a:p>
        </p:txBody>
      </p:sp>
      <p:sp>
        <p:nvSpPr>
          <p:cNvPr id="10" name="Rounded Rectangle 9"/>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Workforce Roster &amp; RFID Attendance</a:t>
            </a:r>
          </a:p>
        </p:txBody>
      </p:sp>
      <p:sp>
        <p:nvSpPr>
          <p:cNvPr id="12" name="TextBox 11"/>
          <p:cNvSpPr txBox="1"/>
          <p:nvPr/>
        </p:nvSpPr>
        <p:spPr>
          <a:xfrm>
            <a:off x="6446520" y="2011680"/>
            <a:ext cx="4754880" cy="3931920"/>
          </a:xfrm>
          <a:prstGeom prst="rect">
            <a:avLst/>
          </a:prstGeom>
          <a:noFill/>
        </p:spPr>
        <p:txBody>
          <a:bodyPr wrap="square">
            <a:spAutoFit/>
          </a:bodyPr>
          <a:lstStyle/>
          <a:p>
            <a:pPr>
              <a:spcBef>
                <a:spcPts val="800"/>
              </a:spcBef>
              <a:defRPr sz="1100" b="1">
                <a:solidFill>
                  <a:srgbClr val="10B981"/>
                </a:solidFill>
              </a:defRPr>
            </a:pPr>
            <a:r>
              <a:t>• Employee Directory &amp; RFID Allocation</a:t>
            </a:r>
          </a:p>
          <a:p>
            <a:pPr>
              <a:defRPr sz="1000">
                <a:solidFill>
                  <a:srgbClr val="F8FAFC"/>
                </a:solidFill>
              </a:defRPr>
            </a:pPr>
            <a:r>
              <a:t>   Associates worker profiles with unique RFID card UIDs, residential stops, and factory shifts.</a:t>
            </a:r>
          </a:p>
          <a:p>
            <a:pPr>
              <a:spcBef>
                <a:spcPts val="800"/>
              </a:spcBef>
              <a:defRPr sz="1100" b="1">
                <a:solidFill>
                  <a:srgbClr val="10B981"/>
                </a:solidFill>
              </a:defRPr>
            </a:pPr>
            <a:r>
              <a:t>• Live Mobile Pointage Validation</a:t>
            </a:r>
          </a:p>
          <a:p>
            <a:pPr>
              <a:defRPr sz="1000">
                <a:solidFill>
                  <a:srgbClr val="F8FAFC"/>
                </a:solidFill>
              </a:defRPr>
            </a:pPr>
            <a:r>
              <a:t>   Modem scans RFID badge upon bus boarding and verifies authorization against scheduled work order.</a:t>
            </a:r>
          </a:p>
          <a:p>
            <a:pPr>
              <a:spcBef>
                <a:spcPts val="800"/>
              </a:spcBef>
              <a:defRPr sz="1100" b="1">
                <a:solidFill>
                  <a:srgbClr val="10B981"/>
                </a:solidFill>
              </a:defRPr>
            </a:pPr>
            <a:r>
              <a:t>• Real-Time Headcount &amp; Capacity</a:t>
            </a:r>
          </a:p>
          <a:p>
            <a:pPr>
              <a:defRPr sz="1000">
                <a:solidFill>
                  <a:srgbClr val="F8FAFC"/>
                </a:solidFill>
              </a:defRPr>
            </a:pPr>
            <a:r>
              <a:t>   Updates live onboard passenger count, preventing vehicle overloading.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06 | SYSTEM SHOWCASE &amp; LIVE DEMO</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Showcase: Machine Learning ETA &amp; Enterprise BI Reports</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[17]</a:t>
            </a:r>
          </a:p>
        </p:txBody>
      </p:sp>
      <p:sp>
        <p:nvSpPr>
          <p:cNvPr id="7" name="Rounded Rectangle 6"/>
          <p:cNvSpPr/>
          <p:nvPr/>
        </p:nvSpPr>
        <p:spPr>
          <a:xfrm>
            <a:off x="7315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54880" cy="365760"/>
          </a:xfrm>
          <a:prstGeom prst="rect">
            <a:avLst/>
          </a:prstGeom>
          <a:noFill/>
        </p:spPr>
        <p:txBody>
          <a:bodyPr wrap="square">
            <a:spAutoFit/>
          </a:bodyPr>
          <a:lstStyle/>
          <a:p>
            <a:pPr>
              <a:defRPr sz="1400" b="1">
                <a:solidFill>
                  <a:srgbClr val="0EA5E9"/>
                </a:solidFill>
                <a:latin typeface="Arial"/>
              </a:defRPr>
            </a:pPr>
            <a:r>
              <a:t>🤖 AI-Powered Stop ETA Predictions</a:t>
            </a:r>
          </a:p>
        </p:txBody>
      </p:sp>
      <p:sp>
        <p:nvSpPr>
          <p:cNvPr id="9" name="TextBox 8"/>
          <p:cNvSpPr txBox="1"/>
          <p:nvPr/>
        </p:nvSpPr>
        <p:spPr>
          <a:xfrm>
            <a:off x="960120" y="2011680"/>
            <a:ext cx="4754880" cy="3931920"/>
          </a:xfrm>
          <a:prstGeom prst="rect">
            <a:avLst/>
          </a:prstGeom>
          <a:noFill/>
        </p:spPr>
        <p:txBody>
          <a:bodyPr wrap="square">
            <a:spAutoFit/>
          </a:bodyPr>
          <a:lstStyle/>
          <a:p>
            <a:pPr>
              <a:spcBef>
                <a:spcPts val="800"/>
              </a:spcBef>
              <a:defRPr sz="1100" b="1">
                <a:solidFill>
                  <a:srgbClr val="10B981"/>
                </a:solidFill>
              </a:defRPr>
            </a:pPr>
            <a:r>
              <a:t>• Real-Time ETA Grid</a:t>
            </a:r>
          </a:p>
          <a:p>
            <a:pPr>
              <a:defRPr sz="1000">
                <a:solidFill>
                  <a:srgbClr val="F8FAFC"/>
                </a:solidFill>
              </a:defRPr>
            </a:pPr>
            <a:r>
              <a:t>   Displays predicted arrival time windows for all downstream stops along active transit circuits.</a:t>
            </a:r>
          </a:p>
          <a:p>
            <a:pPr>
              <a:spcBef>
                <a:spcPts val="800"/>
              </a:spcBef>
              <a:defRPr sz="1100" b="1">
                <a:solidFill>
                  <a:srgbClr val="10B981"/>
                </a:solidFill>
              </a:defRPr>
            </a:pPr>
            <a:r>
              <a:t>• FastAPI Microservice Ingestion</a:t>
            </a:r>
          </a:p>
          <a:p>
            <a:pPr>
              <a:defRPr sz="1000">
                <a:solidFill>
                  <a:srgbClr val="F8FAFC"/>
                </a:solidFill>
              </a:defRPr>
            </a:pPr>
            <a:r>
              <a:t>   Queries pre-trained LightGBM model with current vehicle velocity and remaining distance.</a:t>
            </a:r>
          </a:p>
          <a:p>
            <a:pPr>
              <a:spcBef>
                <a:spcPts val="800"/>
              </a:spcBef>
              <a:defRPr sz="1100" b="1">
                <a:solidFill>
                  <a:srgbClr val="10B981"/>
                </a:solidFill>
              </a:defRPr>
            </a:pPr>
            <a:r>
              <a:t>• Early Delay Notification</a:t>
            </a:r>
          </a:p>
          <a:p>
            <a:pPr>
              <a:defRPr sz="1000">
                <a:solidFill>
                  <a:srgbClr val="F8FAFC"/>
                </a:solidFill>
              </a:defRPr>
            </a:pPr>
            <a:r>
              <a:t>   Automatically flags predicted delays exceeding 5 minutes, allowing dispatchers to notify plants.</a:t>
            </a:r>
          </a:p>
        </p:txBody>
      </p:sp>
      <p:sp>
        <p:nvSpPr>
          <p:cNvPr id="10" name="Rounded Rectangle 9"/>
          <p:cNvSpPr/>
          <p:nvPr/>
        </p:nvSpPr>
        <p:spPr>
          <a:xfrm>
            <a:off x="6217920" y="1463040"/>
            <a:ext cx="5212080" cy="46634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45920"/>
            <a:ext cx="4754880" cy="365760"/>
          </a:xfrm>
          <a:prstGeom prst="rect">
            <a:avLst/>
          </a:prstGeom>
          <a:noFill/>
        </p:spPr>
        <p:txBody>
          <a:bodyPr wrap="square">
            <a:spAutoFit/>
          </a:bodyPr>
          <a:lstStyle/>
          <a:p>
            <a:pPr>
              <a:defRPr sz="1400" b="1">
                <a:solidFill>
                  <a:srgbClr val="0EA5E9"/>
                </a:solidFill>
                <a:latin typeface="Arial"/>
              </a:defRPr>
            </a:pPr>
            <a:r>
              <a:t>📊 Dynamic Business Intelligence &amp; Exports</a:t>
            </a:r>
          </a:p>
        </p:txBody>
      </p:sp>
      <p:sp>
        <p:nvSpPr>
          <p:cNvPr id="12" name="TextBox 11"/>
          <p:cNvSpPr txBox="1"/>
          <p:nvPr/>
        </p:nvSpPr>
        <p:spPr>
          <a:xfrm>
            <a:off x="6446520" y="2011680"/>
            <a:ext cx="4754880" cy="3931920"/>
          </a:xfrm>
          <a:prstGeom prst="rect">
            <a:avLst/>
          </a:prstGeom>
          <a:noFill/>
        </p:spPr>
        <p:txBody>
          <a:bodyPr wrap="square">
            <a:spAutoFit/>
          </a:bodyPr>
          <a:lstStyle/>
          <a:p>
            <a:pPr>
              <a:spcBef>
                <a:spcPts val="800"/>
              </a:spcBef>
              <a:defRPr sz="1100" b="1">
                <a:solidFill>
                  <a:srgbClr val="0EA5E9"/>
                </a:solidFill>
              </a:defRPr>
            </a:pPr>
            <a:r>
              <a:t>• DevExtreme Dynamic Datagrids</a:t>
            </a:r>
          </a:p>
          <a:p>
            <a:pPr>
              <a:defRPr sz="1000">
                <a:solidFill>
                  <a:srgbClr val="F8FAFC"/>
                </a:solidFill>
              </a:defRPr>
            </a:pPr>
            <a:r>
              <a:t>   Multi-column grouping, server-side sorting, summary aggregations, and virtual scrolling.</a:t>
            </a:r>
          </a:p>
          <a:p>
            <a:pPr>
              <a:spcBef>
                <a:spcPts val="800"/>
              </a:spcBef>
              <a:defRPr sz="1100" b="1">
                <a:solidFill>
                  <a:srgbClr val="0EA5E9"/>
                </a:solidFill>
              </a:defRPr>
            </a:pPr>
            <a:r>
              <a:t>• Saved User Layout Presets</a:t>
            </a:r>
          </a:p>
          <a:p>
            <a:pPr>
              <a:defRPr sz="1000">
                <a:solidFill>
                  <a:srgbClr val="F8FAFC"/>
                </a:solidFill>
              </a:defRPr>
            </a:pPr>
            <a:r>
              <a:t>   Users can customize column arrangements and save configurations for one-click reload.</a:t>
            </a:r>
          </a:p>
          <a:p>
            <a:pPr>
              <a:spcBef>
                <a:spcPts val="800"/>
              </a:spcBef>
              <a:defRPr sz="1100" b="1">
                <a:solidFill>
                  <a:srgbClr val="0EA5E9"/>
                </a:solidFill>
              </a:defRPr>
            </a:pPr>
            <a:r>
              <a:t>• One-Click Multi-Format Export</a:t>
            </a:r>
          </a:p>
          <a:p>
            <a:pPr>
              <a:defRPr sz="1000">
                <a:solidFill>
                  <a:srgbClr val="F8FAFC"/>
                </a:solidFill>
              </a:defRPr>
            </a:pPr>
            <a:r>
              <a:t>   Generates styled PDF and Excel audit reports ready for corporate invoicing.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07 | CONCLUSION &amp; PERSPECTIVES</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Project Synthesis &amp; Measurable Business Impact</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[18]</a:t>
            </a:r>
          </a:p>
        </p:txBody>
      </p:sp>
      <p:sp>
        <p:nvSpPr>
          <p:cNvPr id="7" name="Rounded Rectangle 6"/>
          <p:cNvSpPr/>
          <p:nvPr/>
        </p:nvSpPr>
        <p:spPr>
          <a:xfrm>
            <a:off x="731520" y="1463040"/>
            <a:ext cx="3383280" cy="1645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926080" cy="365760"/>
          </a:xfrm>
          <a:prstGeom prst="rect">
            <a:avLst/>
          </a:prstGeom>
          <a:noFill/>
        </p:spPr>
        <p:txBody>
          <a:bodyPr wrap="square">
            <a:spAutoFit/>
          </a:bodyPr>
          <a:lstStyle/>
          <a:p>
            <a:pPr>
              <a:defRPr sz="1400" b="1">
                <a:solidFill>
                  <a:srgbClr val="0EA5E9"/>
                </a:solidFill>
                <a:latin typeface="Arial"/>
              </a:defRPr>
            </a:pPr>
            <a:r>
              <a:t>🎯 100% SPRINT DELIVERY</a:t>
            </a:r>
          </a:p>
        </p:txBody>
      </p:sp>
      <p:sp>
        <p:nvSpPr>
          <p:cNvPr id="9" name="TextBox 8"/>
          <p:cNvSpPr txBox="1"/>
          <p:nvPr/>
        </p:nvSpPr>
        <p:spPr>
          <a:xfrm>
            <a:off x="868680" y="2011680"/>
            <a:ext cx="3108960" cy="1005840"/>
          </a:xfrm>
          <a:prstGeom prst="rect">
            <a:avLst/>
          </a:prstGeom>
          <a:noFill/>
        </p:spPr>
        <p:txBody>
          <a:bodyPr wrap="square">
            <a:spAutoFit/>
          </a:bodyPr>
          <a:lstStyle/>
          <a:p>
            <a:pPr>
              <a:defRPr sz="1050">
                <a:solidFill>
                  <a:srgbClr val="F8FAFC"/>
                </a:solidFill>
              </a:defRPr>
            </a:pPr>
            <a:r>
              <a:t>Delivered all 21 User Stories across 5 Agile Sprints on schedule.</a:t>
            </a:r>
          </a:p>
        </p:txBody>
      </p:sp>
      <p:sp>
        <p:nvSpPr>
          <p:cNvPr id="10" name="Rounded Rectangle 9"/>
          <p:cNvSpPr/>
          <p:nvPr/>
        </p:nvSpPr>
        <p:spPr>
          <a:xfrm>
            <a:off x="4325112" y="1463040"/>
            <a:ext cx="3383280" cy="16459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1645920"/>
            <a:ext cx="2926080" cy="365760"/>
          </a:xfrm>
          <a:prstGeom prst="rect">
            <a:avLst/>
          </a:prstGeom>
          <a:noFill/>
        </p:spPr>
        <p:txBody>
          <a:bodyPr wrap="square">
            <a:spAutoFit/>
          </a:bodyPr>
          <a:lstStyle/>
          <a:p>
            <a:pPr>
              <a:defRPr sz="1400" b="1">
                <a:solidFill>
                  <a:srgbClr val="0EA5E9"/>
                </a:solidFill>
                <a:latin typeface="Arial"/>
              </a:defRPr>
            </a:pPr>
            <a:r>
              <a:t>⚡ SUB-200ms LATENCY</a:t>
            </a:r>
          </a:p>
        </p:txBody>
      </p:sp>
      <p:sp>
        <p:nvSpPr>
          <p:cNvPr id="12" name="TextBox 11"/>
          <p:cNvSpPr txBox="1"/>
          <p:nvPr/>
        </p:nvSpPr>
        <p:spPr>
          <a:xfrm>
            <a:off x="4462272" y="2011680"/>
            <a:ext cx="3108960" cy="1005840"/>
          </a:xfrm>
          <a:prstGeom prst="rect">
            <a:avLst/>
          </a:prstGeom>
          <a:noFill/>
        </p:spPr>
        <p:txBody>
          <a:bodyPr wrap="square">
            <a:spAutoFit/>
          </a:bodyPr>
          <a:lstStyle/>
          <a:p>
            <a:pPr>
              <a:defRPr sz="1050">
                <a:solidFill>
                  <a:srgbClr val="F8FAFC"/>
                </a:solidFill>
              </a:defRPr>
            </a:pPr>
            <a:r>
              <a:t>High-throughput telemetry ingestion supporting 50+ concurrent modems.</a:t>
            </a:r>
          </a:p>
        </p:txBody>
      </p:sp>
      <p:sp>
        <p:nvSpPr>
          <p:cNvPr id="13" name="Rounded Rectangle 12"/>
          <p:cNvSpPr/>
          <p:nvPr/>
        </p:nvSpPr>
        <p:spPr>
          <a:xfrm>
            <a:off x="7918704" y="1463040"/>
            <a:ext cx="3383280" cy="1645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47304" y="1645920"/>
            <a:ext cx="2926080" cy="365760"/>
          </a:xfrm>
          <a:prstGeom prst="rect">
            <a:avLst/>
          </a:prstGeom>
          <a:noFill/>
        </p:spPr>
        <p:txBody>
          <a:bodyPr wrap="square">
            <a:spAutoFit/>
          </a:bodyPr>
          <a:lstStyle/>
          <a:p>
            <a:pPr>
              <a:defRPr sz="1400" b="1">
                <a:solidFill>
                  <a:srgbClr val="0EA5E9"/>
                </a:solidFill>
                <a:latin typeface="Arial"/>
              </a:defRPr>
            </a:pPr>
            <a:r>
              <a:t>🛡️ MULTI-TENANT ISOLATION</a:t>
            </a:r>
          </a:p>
        </p:txBody>
      </p:sp>
      <p:sp>
        <p:nvSpPr>
          <p:cNvPr id="15" name="TextBox 14"/>
          <p:cNvSpPr txBox="1"/>
          <p:nvPr/>
        </p:nvSpPr>
        <p:spPr>
          <a:xfrm>
            <a:off x="8055864" y="2011680"/>
            <a:ext cx="3108960" cy="1005840"/>
          </a:xfrm>
          <a:prstGeom prst="rect">
            <a:avLst/>
          </a:prstGeom>
          <a:noFill/>
        </p:spPr>
        <p:txBody>
          <a:bodyPr wrap="square">
            <a:spAutoFit/>
          </a:bodyPr>
          <a:lstStyle/>
          <a:p>
            <a:pPr>
              <a:defRPr sz="1050">
                <a:solidFill>
                  <a:srgbClr val="F8FAFC"/>
                </a:solidFill>
              </a:defRPr>
            </a:pPr>
            <a:r>
              <a:t>Turnkey SaaS architecture ready for commercial client onboarding.</a:t>
            </a:r>
          </a:p>
        </p:txBody>
      </p:sp>
      <p:sp>
        <p:nvSpPr>
          <p:cNvPr id="16" name="Rounded Rectangle 15"/>
          <p:cNvSpPr/>
          <p:nvPr/>
        </p:nvSpPr>
        <p:spPr>
          <a:xfrm>
            <a:off x="731520" y="3383280"/>
            <a:ext cx="10698480" cy="274320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566160"/>
            <a:ext cx="10241280" cy="365760"/>
          </a:xfrm>
          <a:prstGeom prst="rect">
            <a:avLst/>
          </a:prstGeom>
          <a:noFill/>
        </p:spPr>
        <p:txBody>
          <a:bodyPr wrap="square">
            <a:spAutoFit/>
          </a:bodyPr>
          <a:lstStyle/>
          <a:p>
            <a:pPr>
              <a:defRPr sz="1400" b="1">
                <a:solidFill>
                  <a:srgbClr val="0EA5E9"/>
                </a:solidFill>
                <a:latin typeface="Arial"/>
              </a:defRPr>
            </a:pPr>
            <a:r>
              <a:t>💎 Transformational Business Value Delivered to CST Clients</a:t>
            </a:r>
          </a:p>
        </p:txBody>
      </p:sp>
      <p:sp>
        <p:nvSpPr>
          <p:cNvPr id="18" name="TextBox 17"/>
          <p:cNvSpPr txBox="1"/>
          <p:nvPr/>
        </p:nvSpPr>
        <p:spPr>
          <a:xfrm>
            <a:off x="960120" y="3931920"/>
            <a:ext cx="10241280" cy="2011680"/>
          </a:xfrm>
          <a:prstGeom prst="rect">
            <a:avLst/>
          </a:prstGeom>
          <a:noFill/>
        </p:spPr>
        <p:txBody>
          <a:bodyPr wrap="square">
            <a:spAutoFit/>
          </a:bodyPr>
          <a:lstStyle/>
          <a:p>
            <a:pPr>
              <a:spcBef>
                <a:spcPts val="400"/>
              </a:spcBef>
              <a:defRPr sz="1100">
                <a:solidFill>
                  <a:srgbClr val="F8FAFC"/>
                </a:solidFill>
              </a:defRPr>
            </a:pPr>
            <a:r>
              <a:t>• 100% Elimination of Paper Registers: Replaced error-prone paper rosters with automated RFID badge scans.</a:t>
            </a:r>
          </a:p>
          <a:p>
            <a:pPr>
              <a:spcBef>
                <a:spcPts val="400"/>
              </a:spcBef>
              <a:defRPr sz="1100">
                <a:solidFill>
                  <a:srgbClr val="F8FAFC"/>
                </a:solidFill>
              </a:defRPr>
            </a:pPr>
            <a:r>
              <a:t>• Real-Time Operational Visibility: Supervisors track active vehicles, passenger headcounts, and route compliance live.</a:t>
            </a:r>
          </a:p>
          <a:p>
            <a:pPr>
              <a:spcBef>
                <a:spcPts val="400"/>
              </a:spcBef>
              <a:defRPr sz="1100">
                <a:solidFill>
                  <a:srgbClr val="F8FAFC"/>
                </a:solidFill>
              </a:defRPr>
            </a:pPr>
            <a:r>
              <a:t>• Zero Arrival Uncertainty: Machine learning ETA models keep factories informed, preventing production downtime.</a:t>
            </a:r>
          </a:p>
          <a:p>
            <a:pPr>
              <a:spcBef>
                <a:spcPts val="400"/>
              </a:spcBef>
              <a:defRPr sz="1100">
                <a:solidFill>
                  <a:srgbClr val="F8FAFC"/>
                </a:solidFill>
              </a:defRPr>
            </a:pPr>
            <a:r>
              <a:t>• Automated Invoicing &amp; Auditability: Dynamic BI reporting reduces administrative dispute resolution time by 90%.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lIns="0" tIns="0" rIns="0" bIns="0">
            <a:spAutoFit/>
          </a:bodyPr>
          <a:lstStyle/>
          <a:p>
            <a:pPr>
              <a:defRPr sz="1100" b="1">
                <a:solidFill>
                  <a:srgbClr val="0EA5E9"/>
                </a:solidFill>
                <a:latin typeface="Arial"/>
              </a:defRPr>
            </a:pPr>
            <a:r>
              <a:t>07 | CONCLUSION &amp; PERSPECTIVES</a:t>
            </a:r>
          </a:p>
        </p:txBody>
      </p:sp>
      <p:sp>
        <p:nvSpPr>
          <p:cNvPr id="4" name="TextBox 3"/>
          <p:cNvSpPr txBox="1"/>
          <p:nvPr/>
        </p:nvSpPr>
        <p:spPr>
          <a:xfrm>
            <a:off x="731520" y="731520"/>
            <a:ext cx="10058400" cy="594360"/>
          </a:xfrm>
          <a:prstGeom prst="rect">
            <a:avLst/>
          </a:prstGeom>
          <a:noFill/>
        </p:spPr>
        <p:txBody>
          <a:bodyPr wrap="square" lIns="0" tIns="0" rIns="0" bIns="0">
            <a:spAutoFit/>
          </a:bodyPr>
          <a:lstStyle/>
          <a:p>
            <a:pPr>
              <a:defRPr sz="2200" b="1">
                <a:solidFill>
                  <a:srgbClr val="F8FAFC"/>
                </a:solidFill>
                <a:latin typeface="Arial"/>
              </a:defRPr>
            </a:pPr>
            <a:r>
              <a:t>Product Evolution Roadmap &amp; Perspectives</a:t>
            </a:r>
          </a:p>
        </p:txBody>
      </p:sp>
      <p:sp>
        <p:nvSpPr>
          <p:cNvPr id="5" name="TextBox 4"/>
          <p:cNvSpPr txBox="1"/>
          <p:nvPr/>
        </p:nvSpPr>
        <p:spPr>
          <a:xfrm>
            <a:off x="9601200" y="411480"/>
            <a:ext cx="1828800" cy="365760"/>
          </a:xfrm>
          <a:prstGeom prst="rect">
            <a:avLst/>
          </a:prstGeom>
          <a:noFill/>
        </p:spPr>
        <p:txBody>
          <a:bodyPr wrap="none">
            <a:spAutoFit/>
          </a:bodyPr>
          <a:lstStyle/>
          <a:p>
            <a:pPr algn="r">
              <a:defRPr sz="1200" b="1">
                <a:solidFill>
                  <a:srgbClr val="94A3B8"/>
                </a:solidFill>
              </a:defRPr>
            </a:pPr>
            <a:r>
              <a:t>CST LePoint</a:t>
            </a:r>
          </a:p>
        </p:txBody>
      </p:sp>
      <p:sp>
        <p:nvSpPr>
          <p:cNvPr id="6" name="TextBox 5"/>
          <p:cNvSpPr txBox="1"/>
          <p:nvPr/>
        </p:nvSpPr>
        <p:spPr>
          <a:xfrm>
            <a:off x="10515600" y="6263640"/>
            <a:ext cx="914400" cy="365760"/>
          </a:xfrm>
          <a:prstGeom prst="rect">
            <a:avLst/>
          </a:prstGeom>
          <a:noFill/>
        </p:spPr>
        <p:txBody>
          <a:bodyPr wrap="none">
            <a:spAutoFit/>
          </a:bodyPr>
          <a:lstStyle/>
          <a:p>
            <a:pPr algn="r">
              <a:defRPr sz="1000">
                <a:solidFill>
                  <a:srgbClr val="94A3B8"/>
                </a:solidFill>
              </a:defRPr>
            </a:pPr>
            <a:r>
              <a:t>[19]</a:t>
            </a:r>
          </a:p>
        </p:txBody>
      </p:sp>
      <p:sp>
        <p:nvSpPr>
          <p:cNvPr id="7" name="Rounded Rectangle 6"/>
          <p:cNvSpPr/>
          <p:nvPr/>
        </p:nvSpPr>
        <p:spPr>
          <a:xfrm>
            <a:off x="731520" y="1463040"/>
            <a:ext cx="3383280"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2926080" cy="365760"/>
          </a:xfrm>
          <a:prstGeom prst="rect">
            <a:avLst/>
          </a:prstGeom>
          <a:noFill/>
        </p:spPr>
        <p:txBody>
          <a:bodyPr wrap="square">
            <a:spAutoFit/>
          </a:bodyPr>
          <a:lstStyle/>
          <a:p>
            <a:pPr>
              <a:defRPr sz="1400" b="1">
                <a:solidFill>
                  <a:srgbClr val="0EA5E9"/>
                </a:solidFill>
                <a:latin typeface="Arial"/>
              </a:defRPr>
            </a:pPr>
            <a:r>
              <a:t>PHASE 1: SHORT-TERM</a:t>
            </a:r>
          </a:p>
        </p:txBody>
      </p:sp>
      <p:sp>
        <p:nvSpPr>
          <p:cNvPr id="9" name="Rounded Rectangle 8"/>
          <p:cNvSpPr/>
          <p:nvPr/>
        </p:nvSpPr>
        <p:spPr>
          <a:xfrm>
            <a:off x="868680" y="2011680"/>
            <a:ext cx="310896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B0F19"/>
                </a:solidFill>
              </a:defRPr>
            </a:pPr>
            <a:r>
              <a:t>Driver In-Cab Tablet App</a:t>
            </a:r>
          </a:p>
        </p:txBody>
      </p:sp>
      <p:sp>
        <p:nvSpPr>
          <p:cNvPr id="10" name="TextBox 9"/>
          <p:cNvSpPr txBox="1"/>
          <p:nvPr/>
        </p:nvSpPr>
        <p:spPr>
          <a:xfrm>
            <a:off x="868680" y="2560320"/>
            <a:ext cx="3108960" cy="3291840"/>
          </a:xfrm>
          <a:prstGeom prst="rect">
            <a:avLst/>
          </a:prstGeom>
          <a:noFill/>
        </p:spPr>
        <p:txBody>
          <a:bodyPr wrap="square">
            <a:spAutoFit/>
          </a:bodyPr>
          <a:lstStyle/>
          <a:p>
            <a:pPr>
              <a:spcBef>
                <a:spcPts val="800"/>
              </a:spcBef>
              <a:defRPr sz="1050">
                <a:solidFill>
                  <a:srgbClr val="F8FAFC"/>
                </a:solidFill>
              </a:defRPr>
            </a:pPr>
            <a:r>
              <a:t>• Dedicated Android tablet app for drivers.</a:t>
            </a:r>
          </a:p>
          <a:p>
            <a:pPr>
              <a:spcBef>
                <a:spcPts val="800"/>
              </a:spcBef>
              <a:defRPr sz="1050">
                <a:solidFill>
                  <a:srgbClr val="F8FAFC"/>
                </a:solidFill>
              </a:defRPr>
            </a:pPr>
            <a:r>
              <a:t>• Turn-by-turn circuit navigation.</a:t>
            </a:r>
          </a:p>
          <a:p>
            <a:pPr>
              <a:spcBef>
                <a:spcPts val="800"/>
              </a:spcBef>
              <a:defRPr sz="1050">
                <a:solidFill>
                  <a:srgbClr val="F8FAFC"/>
                </a:solidFill>
              </a:defRPr>
            </a:pPr>
            <a:r>
              <a:t>• Onboard passenger list &amp; offline caching.</a:t>
            </a:r>
          </a:p>
        </p:txBody>
      </p:sp>
      <p:sp>
        <p:nvSpPr>
          <p:cNvPr id="11" name="Rounded Rectangle 10"/>
          <p:cNvSpPr/>
          <p:nvPr/>
        </p:nvSpPr>
        <p:spPr>
          <a:xfrm>
            <a:off x="4325112" y="1463040"/>
            <a:ext cx="3383280" cy="46634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645920"/>
            <a:ext cx="2926080" cy="365760"/>
          </a:xfrm>
          <a:prstGeom prst="rect">
            <a:avLst/>
          </a:prstGeom>
          <a:noFill/>
        </p:spPr>
        <p:txBody>
          <a:bodyPr wrap="square">
            <a:spAutoFit/>
          </a:bodyPr>
          <a:lstStyle/>
          <a:p>
            <a:pPr>
              <a:defRPr sz="1400" b="1">
                <a:solidFill>
                  <a:srgbClr val="0EA5E9"/>
                </a:solidFill>
                <a:latin typeface="Arial"/>
              </a:defRPr>
            </a:pPr>
            <a:r>
              <a:t>PHASE 2: MEDIUM-TERM</a:t>
            </a:r>
          </a:p>
        </p:txBody>
      </p:sp>
      <p:sp>
        <p:nvSpPr>
          <p:cNvPr id="13" name="Rounded Rectangle 12"/>
          <p:cNvSpPr/>
          <p:nvPr/>
        </p:nvSpPr>
        <p:spPr>
          <a:xfrm>
            <a:off x="4462272" y="2011680"/>
            <a:ext cx="3108960" cy="3657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B0F19"/>
                </a:solidFill>
              </a:defRPr>
            </a:pPr>
            <a:r>
              <a:t>Passenger Mobile App</a:t>
            </a:r>
          </a:p>
        </p:txBody>
      </p:sp>
      <p:sp>
        <p:nvSpPr>
          <p:cNvPr id="14" name="TextBox 13"/>
          <p:cNvSpPr txBox="1"/>
          <p:nvPr/>
        </p:nvSpPr>
        <p:spPr>
          <a:xfrm>
            <a:off x="4462272" y="2560320"/>
            <a:ext cx="3108960" cy="3291840"/>
          </a:xfrm>
          <a:prstGeom prst="rect">
            <a:avLst/>
          </a:prstGeom>
          <a:noFill/>
        </p:spPr>
        <p:txBody>
          <a:bodyPr wrap="square">
            <a:spAutoFit/>
          </a:bodyPr>
          <a:lstStyle/>
          <a:p>
            <a:pPr>
              <a:spcBef>
                <a:spcPts val="800"/>
              </a:spcBef>
              <a:defRPr sz="1050">
                <a:solidFill>
                  <a:srgbClr val="F8FAFC"/>
                </a:solidFill>
              </a:defRPr>
            </a:pPr>
            <a:r>
              <a:t>• Cross-platform app for factory workers.</a:t>
            </a:r>
          </a:p>
          <a:p>
            <a:pPr>
              <a:spcBef>
                <a:spcPts val="800"/>
              </a:spcBef>
              <a:defRPr sz="1050">
                <a:solidFill>
                  <a:srgbClr val="F8FAFC"/>
                </a:solidFill>
              </a:defRPr>
            </a:pPr>
            <a:r>
              <a:t>• Live bus tracking on interactive map.</a:t>
            </a:r>
          </a:p>
          <a:p>
            <a:pPr>
              <a:spcBef>
                <a:spcPts val="800"/>
              </a:spcBef>
              <a:defRPr sz="1050">
                <a:solidFill>
                  <a:srgbClr val="F8FAFC"/>
                </a:solidFill>
              </a:defRPr>
            </a:pPr>
            <a:r>
              <a:t>• Personalized stop ETA push notifications.</a:t>
            </a:r>
          </a:p>
        </p:txBody>
      </p:sp>
      <p:sp>
        <p:nvSpPr>
          <p:cNvPr id="15" name="Rounded Rectangle 14"/>
          <p:cNvSpPr/>
          <p:nvPr/>
        </p:nvSpPr>
        <p:spPr>
          <a:xfrm>
            <a:off x="7918704" y="1463040"/>
            <a:ext cx="3383280" cy="46634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7304" y="1645920"/>
            <a:ext cx="2926080" cy="365760"/>
          </a:xfrm>
          <a:prstGeom prst="rect">
            <a:avLst/>
          </a:prstGeom>
          <a:noFill/>
        </p:spPr>
        <p:txBody>
          <a:bodyPr wrap="square">
            <a:spAutoFit/>
          </a:bodyPr>
          <a:lstStyle/>
          <a:p>
            <a:pPr>
              <a:defRPr sz="1400" b="1">
                <a:solidFill>
                  <a:srgbClr val="0EA5E9"/>
                </a:solidFill>
                <a:latin typeface="Arial"/>
              </a:defRPr>
            </a:pPr>
            <a:r>
              <a:t>PHASE 3: LONG-TERM</a:t>
            </a:r>
          </a:p>
        </p:txBody>
      </p:sp>
      <p:sp>
        <p:nvSpPr>
          <p:cNvPr id="17" name="Rounded Rectangle 16"/>
          <p:cNvSpPr/>
          <p:nvPr/>
        </p:nvSpPr>
        <p:spPr>
          <a:xfrm>
            <a:off x="8055864" y="2011680"/>
            <a:ext cx="310896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B0F19"/>
                </a:solidFill>
              </a:defRPr>
            </a:pPr>
            <a:r>
              <a:t>AI Dynamic Route Optimization</a:t>
            </a:r>
          </a:p>
        </p:txBody>
      </p:sp>
      <p:sp>
        <p:nvSpPr>
          <p:cNvPr id="18" name="TextBox 17"/>
          <p:cNvSpPr txBox="1"/>
          <p:nvPr/>
        </p:nvSpPr>
        <p:spPr>
          <a:xfrm>
            <a:off x="8055864" y="2560320"/>
            <a:ext cx="3108960" cy="3291840"/>
          </a:xfrm>
          <a:prstGeom prst="rect">
            <a:avLst/>
          </a:prstGeom>
          <a:noFill/>
        </p:spPr>
        <p:txBody>
          <a:bodyPr wrap="square">
            <a:spAutoFit/>
          </a:bodyPr>
          <a:lstStyle/>
          <a:p>
            <a:pPr>
              <a:spcBef>
                <a:spcPts val="800"/>
              </a:spcBef>
              <a:defRPr sz="1050">
                <a:solidFill>
                  <a:srgbClr val="F8FAFC"/>
                </a:solidFill>
              </a:defRPr>
            </a:pPr>
            <a:r>
              <a:t>• Genetic routing algorithms.</a:t>
            </a:r>
          </a:p>
          <a:p>
            <a:pPr>
              <a:spcBef>
                <a:spcPts val="800"/>
              </a:spcBef>
              <a:defRPr sz="1050">
                <a:solidFill>
                  <a:srgbClr val="F8FAFC"/>
                </a:solidFill>
              </a:defRPr>
            </a:pPr>
            <a:r>
              <a:t>• Dynamic circuit re-planning based on daily attendance.</a:t>
            </a:r>
          </a:p>
          <a:p>
            <a:pPr>
              <a:spcBef>
                <a:spcPts val="800"/>
              </a:spcBef>
              <a:defRPr sz="1050">
                <a:solidFill>
                  <a:srgbClr val="F8FAFC"/>
                </a:solidFill>
              </a:defRPr>
            </a:pPr>
            <a:r>
              <a:t>• Automated fuel &amp; carbon emission reductions.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097280"/>
            <a:ext cx="8869680" cy="466344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20240" y="1463040"/>
            <a:ext cx="8321040" cy="3931920"/>
          </a:xfrm>
          <a:prstGeom prst="rect">
            <a:avLst/>
          </a:prstGeom>
          <a:noFill/>
        </p:spPr>
        <p:txBody>
          <a:bodyPr wrap="square">
            <a:spAutoFit/>
          </a:bodyPr>
          <a:lstStyle/>
          <a:p>
            <a:pPr algn="ctr">
              <a:defRPr sz="3000" b="1">
                <a:solidFill>
                  <a:srgbClr val="F8FAFC"/>
                </a:solidFill>
              </a:defRPr>
            </a:pPr>
            <a:r>
              <a:t>THANK YOU FOR YOUR ATTENTION</a:t>
            </a:r>
          </a:p>
          <a:p>
            <a:pPr algn="ctr">
              <a:spcBef>
                <a:spcPts val="800"/>
              </a:spcBef>
              <a:defRPr sz="1800" b="1">
                <a:solidFill>
                  <a:srgbClr val="10B981"/>
                </a:solidFill>
              </a:defRPr>
            </a:pPr>
            <a:r>
              <a:t>Questions &amp; Discussion</a:t>
            </a:r>
          </a:p>
          <a:p>
            <a:pPr algn="ctr">
              <a:spcBef>
                <a:spcPts val="2000"/>
              </a:spcBef>
              <a:defRPr sz="1200">
                <a:solidFill>
                  <a:srgbClr val="94A3B8"/>
                </a:solidFill>
              </a:defRPr>
            </a:pPr>
            <a:r>
              <a:t>CST LePoint — Smart Fleet Telemetry, RFID Attendance &amp; AI Prediction Platform</a:t>
            </a:r>
            <a:br/>
            <a:r>
              <a:t>Candidate: Rayen | Host Company: CST (Compagnie de Services et Technologies)</a:t>
            </a:r>
          </a:p>
          <a:p>
            <a:pPr algn="ctr">
              <a:spcBef>
                <a:spcPts val="1400"/>
              </a:spcBef>
              <a:defRPr sz="1100" b="1">
                <a:solidFill>
                  <a:srgbClr val="0EA5E9"/>
                </a:solidFill>
              </a:defRPr>
            </a:pPr>
            <a:r>
              <a:t>Tech Stack: .NET 8 • Angular 18 • Python FastAPI • SQL Server 2019 • Docker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